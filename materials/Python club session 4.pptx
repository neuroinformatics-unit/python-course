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312" r:id="rId4"/>
    <p:sldId id="265" r:id="rId5"/>
    <p:sldId id="266" r:id="rId6"/>
    <p:sldId id="257" r:id="rId7"/>
    <p:sldId id="258" r:id="rId8"/>
    <p:sldId id="259" r:id="rId9"/>
    <p:sldId id="261" r:id="rId10"/>
    <p:sldId id="262" r:id="rId11"/>
    <p:sldId id="260" r:id="rId12"/>
    <p:sldId id="264" r:id="rId13"/>
    <p:sldId id="267" r:id="rId14"/>
    <p:sldId id="268" r:id="rId15"/>
    <p:sldId id="270" r:id="rId16"/>
    <p:sldId id="273" r:id="rId17"/>
    <p:sldId id="274" r:id="rId18"/>
    <p:sldId id="272" r:id="rId19"/>
    <p:sldId id="269" r:id="rId20"/>
    <p:sldId id="271" r:id="rId21"/>
    <p:sldId id="275" r:id="rId22"/>
    <p:sldId id="276" r:id="rId23"/>
    <p:sldId id="283" r:id="rId24"/>
    <p:sldId id="284" r:id="rId25"/>
    <p:sldId id="277" r:id="rId26"/>
    <p:sldId id="278" r:id="rId27"/>
    <p:sldId id="279" r:id="rId28"/>
    <p:sldId id="280" r:id="rId29"/>
    <p:sldId id="281" r:id="rId30"/>
    <p:sldId id="282" r:id="rId31"/>
    <p:sldId id="285" r:id="rId32"/>
    <p:sldId id="287" r:id="rId33"/>
    <p:sldId id="288" r:id="rId34"/>
    <p:sldId id="289" r:id="rId35"/>
    <p:sldId id="290" r:id="rId36"/>
    <p:sldId id="297" r:id="rId37"/>
    <p:sldId id="291" r:id="rId38"/>
    <p:sldId id="292" r:id="rId39"/>
    <p:sldId id="293" r:id="rId40"/>
    <p:sldId id="294" r:id="rId41"/>
    <p:sldId id="298" r:id="rId42"/>
    <p:sldId id="295" r:id="rId43"/>
    <p:sldId id="296" r:id="rId44"/>
    <p:sldId id="304" r:id="rId45"/>
    <p:sldId id="299" r:id="rId46"/>
    <p:sldId id="300" r:id="rId47"/>
    <p:sldId id="301" r:id="rId48"/>
    <p:sldId id="303" r:id="rId49"/>
    <p:sldId id="305" r:id="rId50"/>
    <p:sldId id="302" r:id="rId51"/>
    <p:sldId id="306" r:id="rId52"/>
    <p:sldId id="307" r:id="rId53"/>
    <p:sldId id="308" r:id="rId54"/>
    <p:sldId id="311" r:id="rId55"/>
    <p:sldId id="309" r:id="rId56"/>
    <p:sldId id="310"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D11CC6-74A3-4842-A82F-020ED5186641}" v="55" dt="2024-12-16T12:27:41.9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4660"/>
  </p:normalViewPr>
  <p:slideViewPr>
    <p:cSldViewPr snapToGrid="0">
      <p:cViewPr>
        <p:scale>
          <a:sx n="50" d="100"/>
          <a:sy n="50" d="100"/>
        </p:scale>
        <p:origin x="3084" y="14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DF611-4C5A-3652-F46B-20160FEEB7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7BD5634-6817-D15B-186B-DD3BE0DC8E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5E7B0614-A19D-4451-B3F8-1A767527BB62}"/>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5" name="Footer Placeholder 4">
            <a:extLst>
              <a:ext uri="{FF2B5EF4-FFF2-40B4-BE49-F238E27FC236}">
                <a16:creationId xmlns:a16="http://schemas.microsoft.com/office/drawing/2014/main" id="{7188855D-363C-D81C-DB52-ED2DEE7CB3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EE2F5C5-2F78-19C8-534C-212C1248815F}"/>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170657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81DC8-BBDF-1217-A98C-9A2B67A79C6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7EF2049-D6DA-4F44-A0D6-9289ED1CE3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63F749-D8AD-5A9E-614F-F02A6239B680}"/>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5" name="Footer Placeholder 4">
            <a:extLst>
              <a:ext uri="{FF2B5EF4-FFF2-40B4-BE49-F238E27FC236}">
                <a16:creationId xmlns:a16="http://schemas.microsoft.com/office/drawing/2014/main" id="{687B311C-79A6-A824-E033-ECD8CF4E7C9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E2A476-7ED4-F735-EA9C-6A2CE9C1EA7F}"/>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208378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5AF30-D131-616E-B4AF-ACB856FD37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D173B962-CA83-9F2E-59D6-6C2A691DEC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B61423-C1A4-90EE-8393-498B6C46E38D}"/>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5" name="Footer Placeholder 4">
            <a:extLst>
              <a:ext uri="{FF2B5EF4-FFF2-40B4-BE49-F238E27FC236}">
                <a16:creationId xmlns:a16="http://schemas.microsoft.com/office/drawing/2014/main" id="{AECC5EE6-8E29-401B-BA5D-F8AE46CA36B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DE61220-46D9-58FF-ECEF-6F95E4D5C7F3}"/>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2537556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EB68C-92BD-5808-5004-C0839388AF0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5B692EF-9344-7640-FCDB-3448BFE0A4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DCD3181-8861-437F-3CDE-8C36A42319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71C3ADA-C9FA-4620-F16D-45316B15FC14}"/>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6" name="Footer Placeholder 5">
            <a:extLst>
              <a:ext uri="{FF2B5EF4-FFF2-40B4-BE49-F238E27FC236}">
                <a16:creationId xmlns:a16="http://schemas.microsoft.com/office/drawing/2014/main" id="{3E563DF9-CC6E-E4B5-320A-77B22F1BE38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FDDA9CB-5DB9-F6C6-6055-0648F09085CA}"/>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2038591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4054-F476-27F1-C74E-7497D9BACF4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AC0C4CD-9D01-95F6-9764-063996BE71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2A2332-BD59-4F7A-50AA-3C00B4FD45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D03AFB-6491-AF3B-5003-47BE07432F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CA5B04-8484-318A-B1EC-F03AA64D32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FE077A3-E6E4-7D2B-DCF5-E24B54716B77}"/>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8" name="Footer Placeholder 7">
            <a:extLst>
              <a:ext uri="{FF2B5EF4-FFF2-40B4-BE49-F238E27FC236}">
                <a16:creationId xmlns:a16="http://schemas.microsoft.com/office/drawing/2014/main" id="{24E0DD4F-5F67-F706-7452-2B79B0AA2CBB}"/>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D3ED109-5035-3632-EB89-5ECA91045CE0}"/>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1740367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0554B-E57A-7010-5D02-3D149216B70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181F0F9-27E8-91C1-DF06-57DD21257E8D}"/>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4" name="Footer Placeholder 3">
            <a:extLst>
              <a:ext uri="{FF2B5EF4-FFF2-40B4-BE49-F238E27FC236}">
                <a16:creationId xmlns:a16="http://schemas.microsoft.com/office/drawing/2014/main" id="{DE7D7804-8E3D-077C-2986-D57CE4C77A5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F1DDCEC-197E-5DCA-34EF-275A2CAC24B7}"/>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1984505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3451CE-B21C-7451-E996-F846E4A94CE8}"/>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3" name="Footer Placeholder 2">
            <a:extLst>
              <a:ext uri="{FF2B5EF4-FFF2-40B4-BE49-F238E27FC236}">
                <a16:creationId xmlns:a16="http://schemas.microsoft.com/office/drawing/2014/main" id="{A47D7566-A423-554C-EB69-BEA48637741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BCD7B68-04EC-CFB4-F9A5-06AAE14CFD8F}"/>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1863690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CDCEE-8C46-0F00-096C-4B49389B9E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F3E63C6-6AE3-CCD5-404D-5B3FA55098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D6CF4785-E08D-A2CD-C2BB-1FD219D21E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E7624B-362A-28CD-94D0-7FD95EB40BA2}"/>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6" name="Footer Placeholder 5">
            <a:extLst>
              <a:ext uri="{FF2B5EF4-FFF2-40B4-BE49-F238E27FC236}">
                <a16:creationId xmlns:a16="http://schemas.microsoft.com/office/drawing/2014/main" id="{9DCFBD87-4265-CD05-6076-DF2AC10E4DA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1F532AF-3972-B6BA-9014-2EBACC139716}"/>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1278541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45897-5D41-4386-B868-7ECFD511E3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5EE5152-41F1-CCFA-2A53-AFE73C0725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62FD653-6F47-FF09-CA60-8E84ECCEFE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C3E172-0955-3833-9828-43C0A5E92F0C}"/>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6" name="Footer Placeholder 5">
            <a:extLst>
              <a:ext uri="{FF2B5EF4-FFF2-40B4-BE49-F238E27FC236}">
                <a16:creationId xmlns:a16="http://schemas.microsoft.com/office/drawing/2014/main" id="{440AAB07-D9ED-D76E-2ED2-A5C47324B08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14E4B2E-06C1-E40A-EAA4-9EA413D3802A}"/>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3325543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F3092-A7D1-71AE-22A9-D8390533479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16D2963-DEBC-5473-1634-99BE6DBAD6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3FBE090-E022-FD10-EEA2-35059FFCAC13}"/>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5" name="Footer Placeholder 4">
            <a:extLst>
              <a:ext uri="{FF2B5EF4-FFF2-40B4-BE49-F238E27FC236}">
                <a16:creationId xmlns:a16="http://schemas.microsoft.com/office/drawing/2014/main" id="{885E7EAE-B755-047E-6762-78C26845D1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8DB47C9-A5D1-E296-089B-5401675D5129}"/>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4255671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39CAC0-8083-8765-7E83-D94B63E502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26AD905-6FCC-2BD9-F7E9-420A97FAAF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9255937-6B16-4BA7-1692-2149162F2EF9}"/>
              </a:ext>
            </a:extLst>
          </p:cNvPr>
          <p:cNvSpPr>
            <a:spLocks noGrp="1"/>
          </p:cNvSpPr>
          <p:nvPr>
            <p:ph type="dt" sz="half" idx="10"/>
          </p:nvPr>
        </p:nvSpPr>
        <p:spPr/>
        <p:txBody>
          <a:bodyPr/>
          <a:lstStyle/>
          <a:p>
            <a:fld id="{755AFB8D-5C50-4551-8CB3-131578F089EB}" type="datetimeFigureOut">
              <a:rPr lang="en-AU" smtClean="0"/>
              <a:t>15/12/2024</a:t>
            </a:fld>
            <a:endParaRPr lang="en-AU"/>
          </a:p>
        </p:txBody>
      </p:sp>
      <p:sp>
        <p:nvSpPr>
          <p:cNvPr id="5" name="Footer Placeholder 4">
            <a:extLst>
              <a:ext uri="{FF2B5EF4-FFF2-40B4-BE49-F238E27FC236}">
                <a16:creationId xmlns:a16="http://schemas.microsoft.com/office/drawing/2014/main" id="{317396AC-7DFD-70EC-BA71-C1ABD182D65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5BA82C0-11A3-1B1F-69EC-71A667E265FF}"/>
              </a:ext>
            </a:extLst>
          </p:cNvPr>
          <p:cNvSpPr>
            <a:spLocks noGrp="1"/>
          </p:cNvSpPr>
          <p:nvPr>
            <p:ph type="sldNum" sz="quarter" idx="12"/>
          </p:nvPr>
        </p:nvSpPr>
        <p:spPr/>
        <p:txBody>
          <a:bodyPr/>
          <a:lstStyle/>
          <a:p>
            <a:fld id="{9F56C999-FD67-4CF8-82C6-76C878453262}" type="slidenum">
              <a:rPr lang="en-AU" smtClean="0"/>
              <a:t>‹#›</a:t>
            </a:fld>
            <a:endParaRPr lang="en-AU"/>
          </a:p>
        </p:txBody>
      </p:sp>
    </p:spTree>
    <p:extLst>
      <p:ext uri="{BB962C8B-B14F-4D97-AF65-F5344CB8AC3E}">
        <p14:creationId xmlns:p14="http://schemas.microsoft.com/office/powerpoint/2010/main" val="154323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632593-D680-F64B-4024-4469A86B1E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A81E669-B987-434E-C00C-B0C9A460C3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10182-FFE0-7489-CD43-68777D17F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5AFB8D-5C50-4551-8CB3-131578F089EB}" type="datetimeFigureOut">
              <a:rPr lang="en-AU" smtClean="0"/>
              <a:t>15/12/2024</a:t>
            </a:fld>
            <a:endParaRPr lang="en-AU"/>
          </a:p>
        </p:txBody>
      </p:sp>
      <p:sp>
        <p:nvSpPr>
          <p:cNvPr id="5" name="Footer Placeholder 4">
            <a:extLst>
              <a:ext uri="{FF2B5EF4-FFF2-40B4-BE49-F238E27FC236}">
                <a16:creationId xmlns:a16="http://schemas.microsoft.com/office/drawing/2014/main" id="{A06AA6EA-A6A9-C245-D342-37E0CC7500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56B5EC87-D6FE-06E2-0584-702A4706AF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56C999-FD67-4CF8-82C6-76C878453262}" type="slidenum">
              <a:rPr lang="en-AU" smtClean="0"/>
              <a:t>‹#›</a:t>
            </a:fld>
            <a:endParaRPr lang="en-AU"/>
          </a:p>
        </p:txBody>
      </p:sp>
    </p:spTree>
    <p:extLst>
      <p:ext uri="{BB962C8B-B14F-4D97-AF65-F5344CB8AC3E}">
        <p14:creationId xmlns:p14="http://schemas.microsoft.com/office/powerpoint/2010/main" val="609994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79240-899D-B30C-6F5C-B1C627160B08}"/>
              </a:ext>
            </a:extLst>
          </p:cNvPr>
          <p:cNvSpPr>
            <a:spLocks noGrp="1"/>
          </p:cNvSpPr>
          <p:nvPr>
            <p:ph type="ctrTitle"/>
          </p:nvPr>
        </p:nvSpPr>
        <p:spPr/>
        <p:txBody>
          <a:bodyPr/>
          <a:lstStyle/>
          <a:p>
            <a:r>
              <a:rPr lang="en-AU" dirty="0"/>
              <a:t>Python club session 4</a:t>
            </a:r>
          </a:p>
        </p:txBody>
      </p:sp>
      <p:sp>
        <p:nvSpPr>
          <p:cNvPr id="3" name="Subtitle 2">
            <a:extLst>
              <a:ext uri="{FF2B5EF4-FFF2-40B4-BE49-F238E27FC236}">
                <a16:creationId xmlns:a16="http://schemas.microsoft.com/office/drawing/2014/main" id="{B60AE14E-97A6-1487-FA77-B26FD9B031C5}"/>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1661736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1542-44A6-954C-FA19-16569036ECEB}"/>
              </a:ext>
            </a:extLst>
          </p:cNvPr>
          <p:cNvSpPr>
            <a:spLocks noGrp="1"/>
          </p:cNvSpPr>
          <p:nvPr>
            <p:ph type="title"/>
          </p:nvPr>
        </p:nvSpPr>
        <p:spPr/>
        <p:txBody>
          <a:bodyPr/>
          <a:lstStyle/>
          <a:p>
            <a:r>
              <a:rPr lang="en-AU" dirty="0"/>
              <a:t>Why you shouldn’t use AI to code while you are a beginner</a:t>
            </a:r>
          </a:p>
        </p:txBody>
      </p:sp>
      <p:sp>
        <p:nvSpPr>
          <p:cNvPr id="3" name="Content Placeholder 2">
            <a:extLst>
              <a:ext uri="{FF2B5EF4-FFF2-40B4-BE49-F238E27FC236}">
                <a16:creationId xmlns:a16="http://schemas.microsoft.com/office/drawing/2014/main" id="{9E81EC37-3F3E-7667-0ACC-63D4FA4D6846}"/>
              </a:ext>
            </a:extLst>
          </p:cNvPr>
          <p:cNvSpPr>
            <a:spLocks noGrp="1"/>
          </p:cNvSpPr>
          <p:nvPr>
            <p:ph idx="1"/>
          </p:nvPr>
        </p:nvSpPr>
        <p:spPr>
          <a:xfrm>
            <a:off x="838200" y="2024408"/>
            <a:ext cx="10515600" cy="4351338"/>
          </a:xfrm>
        </p:spPr>
        <p:txBody>
          <a:bodyPr/>
          <a:lstStyle/>
          <a:p>
            <a:r>
              <a:rPr lang="en-AU" dirty="0"/>
              <a:t>You need the skills to comprehend what the AI is saying to you</a:t>
            </a:r>
          </a:p>
          <a:p>
            <a:r>
              <a:rPr lang="en-AU" dirty="0"/>
              <a:t>Sometimes you reach a problem the AI cannot solve.. What then?</a:t>
            </a:r>
          </a:p>
          <a:p>
            <a:r>
              <a:rPr lang="en-AU" dirty="0"/>
              <a:t>To use AI effectively you need to be able to articulate the problem and what exactly it is you want to do. This is fine when someone has written out the problem as an assignment, but in the real world you will have to articulate the problems yourself!</a:t>
            </a:r>
          </a:p>
          <a:p>
            <a:endParaRPr lang="en-AU" dirty="0"/>
          </a:p>
        </p:txBody>
      </p:sp>
    </p:spTree>
    <p:extLst>
      <p:ext uri="{BB962C8B-B14F-4D97-AF65-F5344CB8AC3E}">
        <p14:creationId xmlns:p14="http://schemas.microsoft.com/office/powerpoint/2010/main" val="3565999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3089C-4363-963D-EA1D-DF0757E87588}"/>
              </a:ext>
            </a:extLst>
          </p:cNvPr>
          <p:cNvSpPr>
            <a:spLocks noGrp="1"/>
          </p:cNvSpPr>
          <p:nvPr>
            <p:ph type="title"/>
          </p:nvPr>
        </p:nvSpPr>
        <p:spPr/>
        <p:txBody>
          <a:bodyPr/>
          <a:lstStyle/>
          <a:p>
            <a:r>
              <a:rPr lang="en-AU" dirty="0"/>
              <a:t>When it’s ok to use AI as a beginner</a:t>
            </a:r>
          </a:p>
        </p:txBody>
      </p:sp>
      <p:sp>
        <p:nvSpPr>
          <p:cNvPr id="3" name="Content Placeholder 2">
            <a:extLst>
              <a:ext uri="{FF2B5EF4-FFF2-40B4-BE49-F238E27FC236}">
                <a16:creationId xmlns:a16="http://schemas.microsoft.com/office/drawing/2014/main" id="{E5468FC2-8D5A-8BF3-4895-10E5BB255036}"/>
              </a:ext>
            </a:extLst>
          </p:cNvPr>
          <p:cNvSpPr>
            <a:spLocks noGrp="1"/>
          </p:cNvSpPr>
          <p:nvPr>
            <p:ph idx="1"/>
          </p:nvPr>
        </p:nvSpPr>
        <p:spPr/>
        <p:txBody>
          <a:bodyPr/>
          <a:lstStyle/>
          <a:p>
            <a:r>
              <a:rPr lang="en-AU" dirty="0"/>
              <a:t>When you need something explained to you so that you can do it yourself</a:t>
            </a:r>
          </a:p>
        </p:txBody>
      </p:sp>
    </p:spTree>
    <p:extLst>
      <p:ext uri="{BB962C8B-B14F-4D97-AF65-F5344CB8AC3E}">
        <p14:creationId xmlns:p14="http://schemas.microsoft.com/office/powerpoint/2010/main" val="846541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E696-31AF-2B37-0410-1BEAFAA50891}"/>
              </a:ext>
            </a:extLst>
          </p:cNvPr>
          <p:cNvSpPr>
            <a:spLocks noGrp="1"/>
          </p:cNvSpPr>
          <p:nvPr>
            <p:ph type="title"/>
          </p:nvPr>
        </p:nvSpPr>
        <p:spPr/>
        <p:txBody>
          <a:bodyPr/>
          <a:lstStyle/>
          <a:p>
            <a:r>
              <a:rPr lang="en-AU" dirty="0"/>
              <a:t>Power operator</a:t>
            </a:r>
          </a:p>
        </p:txBody>
      </p:sp>
      <p:sp>
        <p:nvSpPr>
          <p:cNvPr id="3" name="Content Placeholder 2">
            <a:extLst>
              <a:ext uri="{FF2B5EF4-FFF2-40B4-BE49-F238E27FC236}">
                <a16:creationId xmlns:a16="http://schemas.microsoft.com/office/drawing/2014/main" id="{AC8BD995-9F91-D819-A830-BC0692BA2756}"/>
              </a:ext>
            </a:extLst>
          </p:cNvPr>
          <p:cNvSpPr>
            <a:spLocks noGrp="1"/>
          </p:cNvSpPr>
          <p:nvPr>
            <p:ph idx="1"/>
          </p:nvPr>
        </p:nvSpPr>
        <p:spPr>
          <a:xfrm>
            <a:off x="604520" y="1541145"/>
            <a:ext cx="10515600" cy="4351338"/>
          </a:xfrm>
        </p:spPr>
        <p:txBody>
          <a:bodyPr/>
          <a:lstStyle/>
          <a:p>
            <a:r>
              <a:rPr lang="en-AU" dirty="0"/>
              <a:t>In Python double </a:t>
            </a:r>
            <a:r>
              <a:rPr lang="en-AU" dirty="0" err="1"/>
              <a:t>asterix</a:t>
            </a:r>
            <a:r>
              <a:rPr lang="en-AU" dirty="0"/>
              <a:t> is the power operator</a:t>
            </a:r>
          </a:p>
          <a:p>
            <a:r>
              <a:rPr lang="en-AU" dirty="0"/>
              <a:t>Like all operators this applies also to arrays</a:t>
            </a:r>
          </a:p>
        </p:txBody>
      </p:sp>
      <p:pic>
        <p:nvPicPr>
          <p:cNvPr id="5" name="Picture 4">
            <a:extLst>
              <a:ext uri="{FF2B5EF4-FFF2-40B4-BE49-F238E27FC236}">
                <a16:creationId xmlns:a16="http://schemas.microsoft.com/office/drawing/2014/main" id="{BC3E9D15-1488-FAED-A704-EC6164A02DA0}"/>
              </a:ext>
            </a:extLst>
          </p:cNvPr>
          <p:cNvPicPr>
            <a:picLocks noChangeAspect="1"/>
          </p:cNvPicPr>
          <p:nvPr/>
        </p:nvPicPr>
        <p:blipFill>
          <a:blip r:embed="rId2"/>
          <a:stretch>
            <a:fillRect/>
          </a:stretch>
        </p:blipFill>
        <p:spPr>
          <a:xfrm>
            <a:off x="1155967" y="2622660"/>
            <a:ext cx="5662462" cy="4088020"/>
          </a:xfrm>
          <a:prstGeom prst="rect">
            <a:avLst/>
          </a:prstGeom>
        </p:spPr>
      </p:pic>
    </p:spTree>
    <p:extLst>
      <p:ext uri="{BB962C8B-B14F-4D97-AF65-F5344CB8AC3E}">
        <p14:creationId xmlns:p14="http://schemas.microsoft.com/office/powerpoint/2010/main" val="40739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FC1C-99AA-7572-FC55-20C3D0F23456}"/>
              </a:ext>
            </a:extLst>
          </p:cNvPr>
          <p:cNvSpPr>
            <a:spLocks noGrp="1"/>
          </p:cNvSpPr>
          <p:nvPr>
            <p:ph type="title"/>
          </p:nvPr>
        </p:nvSpPr>
        <p:spPr/>
        <p:txBody>
          <a:bodyPr/>
          <a:lstStyle/>
          <a:p>
            <a:r>
              <a:rPr lang="en-AU" dirty="0"/>
              <a:t>There are a few other operators but now you know the main ones</a:t>
            </a:r>
          </a:p>
        </p:txBody>
      </p:sp>
    </p:spTree>
    <p:extLst>
      <p:ext uri="{BB962C8B-B14F-4D97-AF65-F5344CB8AC3E}">
        <p14:creationId xmlns:p14="http://schemas.microsoft.com/office/powerpoint/2010/main" val="26092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FD877-5F34-0C50-0383-AF3E605BB136}"/>
              </a:ext>
            </a:extLst>
          </p:cNvPr>
          <p:cNvSpPr>
            <a:spLocks noGrp="1"/>
          </p:cNvSpPr>
          <p:nvPr>
            <p:ph type="title"/>
          </p:nvPr>
        </p:nvSpPr>
        <p:spPr/>
        <p:txBody>
          <a:bodyPr/>
          <a:lstStyle/>
          <a:p>
            <a:r>
              <a:rPr lang="en-AU" dirty="0" err="1"/>
              <a:t>Numpy</a:t>
            </a:r>
            <a:r>
              <a:rPr lang="en-AU" dirty="0"/>
              <a:t> Arrays</a:t>
            </a:r>
          </a:p>
        </p:txBody>
      </p:sp>
      <p:sp>
        <p:nvSpPr>
          <p:cNvPr id="3" name="Content Placeholder 2">
            <a:extLst>
              <a:ext uri="{FF2B5EF4-FFF2-40B4-BE49-F238E27FC236}">
                <a16:creationId xmlns:a16="http://schemas.microsoft.com/office/drawing/2014/main" id="{7E3BEA54-77BB-B470-5593-3346B53AE630}"/>
              </a:ext>
            </a:extLst>
          </p:cNvPr>
          <p:cNvSpPr>
            <a:spLocks noGrp="1"/>
          </p:cNvSpPr>
          <p:nvPr>
            <p:ph idx="1"/>
          </p:nvPr>
        </p:nvSpPr>
        <p:spPr/>
        <p:txBody>
          <a:bodyPr/>
          <a:lstStyle/>
          <a:p>
            <a:r>
              <a:rPr lang="en-AU" dirty="0"/>
              <a:t>A </a:t>
            </a:r>
            <a:r>
              <a:rPr lang="en-AU" dirty="0" err="1"/>
              <a:t>numpy</a:t>
            </a:r>
            <a:r>
              <a:rPr lang="en-AU" dirty="0"/>
              <a:t> array is a class which is useful for performing mathematical operations on an entire collection.</a:t>
            </a:r>
          </a:p>
        </p:txBody>
      </p:sp>
    </p:spTree>
    <p:extLst>
      <p:ext uri="{BB962C8B-B14F-4D97-AF65-F5344CB8AC3E}">
        <p14:creationId xmlns:p14="http://schemas.microsoft.com/office/powerpoint/2010/main" val="1135889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AF74E-5A08-4334-50B1-BBBAE23B061B}"/>
              </a:ext>
            </a:extLst>
          </p:cNvPr>
          <p:cNvSpPr>
            <a:spLocks noGrp="1"/>
          </p:cNvSpPr>
          <p:nvPr>
            <p:ph type="title"/>
          </p:nvPr>
        </p:nvSpPr>
        <p:spPr/>
        <p:txBody>
          <a:bodyPr/>
          <a:lstStyle/>
          <a:p>
            <a:r>
              <a:rPr lang="en-AU" dirty="0"/>
              <a:t>Don’t</a:t>
            </a:r>
          </a:p>
        </p:txBody>
      </p:sp>
      <p:sp>
        <p:nvSpPr>
          <p:cNvPr id="3" name="Content Placeholder 2">
            <a:extLst>
              <a:ext uri="{FF2B5EF4-FFF2-40B4-BE49-F238E27FC236}">
                <a16:creationId xmlns:a16="http://schemas.microsoft.com/office/drawing/2014/main" id="{0761A1CD-B708-48B3-E19A-ED19CBDFB542}"/>
              </a:ext>
            </a:extLst>
          </p:cNvPr>
          <p:cNvSpPr>
            <a:spLocks noGrp="1"/>
          </p:cNvSpPr>
          <p:nvPr>
            <p:ph idx="1"/>
          </p:nvPr>
        </p:nvSpPr>
        <p:spPr/>
        <p:txBody>
          <a:bodyPr/>
          <a:lstStyle/>
          <a:p>
            <a:r>
              <a:rPr lang="en-AU" dirty="0"/>
              <a:t>Don’t make a file called numpy.py</a:t>
            </a:r>
          </a:p>
          <a:p>
            <a:r>
              <a:rPr lang="en-AU" dirty="0"/>
              <a:t>If you do, when you try to import </a:t>
            </a:r>
            <a:r>
              <a:rPr lang="en-AU" dirty="0" err="1"/>
              <a:t>numpy</a:t>
            </a:r>
            <a:r>
              <a:rPr lang="en-AU" dirty="0"/>
              <a:t> in other files it will instead import the file you created… </a:t>
            </a:r>
          </a:p>
          <a:p>
            <a:r>
              <a:rPr lang="en-AU" dirty="0"/>
              <a:t>Don’t make your file names the same names as libraries.</a:t>
            </a:r>
          </a:p>
        </p:txBody>
      </p:sp>
    </p:spTree>
    <p:extLst>
      <p:ext uri="{BB962C8B-B14F-4D97-AF65-F5344CB8AC3E}">
        <p14:creationId xmlns:p14="http://schemas.microsoft.com/office/powerpoint/2010/main" val="1767596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0CB63-8FFE-4D0D-CD6E-FA8F9D4AB819}"/>
              </a:ext>
            </a:extLst>
          </p:cNvPr>
          <p:cNvSpPr>
            <a:spLocks noGrp="1"/>
          </p:cNvSpPr>
          <p:nvPr>
            <p:ph type="title"/>
          </p:nvPr>
        </p:nvSpPr>
        <p:spPr/>
        <p:txBody>
          <a:bodyPr/>
          <a:lstStyle/>
          <a:p>
            <a:r>
              <a:rPr lang="en-AU" dirty="0"/>
              <a:t>Operations</a:t>
            </a:r>
          </a:p>
        </p:txBody>
      </p:sp>
      <p:sp>
        <p:nvSpPr>
          <p:cNvPr id="3" name="Content Placeholder 2">
            <a:extLst>
              <a:ext uri="{FF2B5EF4-FFF2-40B4-BE49-F238E27FC236}">
                <a16:creationId xmlns:a16="http://schemas.microsoft.com/office/drawing/2014/main" id="{3E58528C-F534-7FC4-6B64-D6F8005C7679}"/>
              </a:ext>
            </a:extLst>
          </p:cNvPr>
          <p:cNvSpPr>
            <a:spLocks noGrp="1"/>
          </p:cNvSpPr>
          <p:nvPr>
            <p:ph idx="1"/>
          </p:nvPr>
        </p:nvSpPr>
        <p:spPr/>
        <p:txBody>
          <a:bodyPr/>
          <a:lstStyle/>
          <a:p>
            <a:r>
              <a:rPr lang="en-AU" dirty="0"/>
              <a:t>We can perform mathematical operations on arrays and single values</a:t>
            </a:r>
          </a:p>
        </p:txBody>
      </p:sp>
      <p:pic>
        <p:nvPicPr>
          <p:cNvPr id="7" name="Picture 6">
            <a:extLst>
              <a:ext uri="{FF2B5EF4-FFF2-40B4-BE49-F238E27FC236}">
                <a16:creationId xmlns:a16="http://schemas.microsoft.com/office/drawing/2014/main" id="{639EAD20-CA02-5C9F-45BC-5CB4898A4DF1}"/>
              </a:ext>
            </a:extLst>
          </p:cNvPr>
          <p:cNvPicPr>
            <a:picLocks noChangeAspect="1"/>
          </p:cNvPicPr>
          <p:nvPr/>
        </p:nvPicPr>
        <p:blipFill>
          <a:blip r:embed="rId2"/>
          <a:stretch>
            <a:fillRect/>
          </a:stretch>
        </p:blipFill>
        <p:spPr>
          <a:xfrm>
            <a:off x="1041358" y="2629968"/>
            <a:ext cx="7763595" cy="4004197"/>
          </a:xfrm>
          <a:prstGeom prst="rect">
            <a:avLst/>
          </a:prstGeom>
        </p:spPr>
      </p:pic>
    </p:spTree>
    <p:extLst>
      <p:ext uri="{BB962C8B-B14F-4D97-AF65-F5344CB8AC3E}">
        <p14:creationId xmlns:p14="http://schemas.microsoft.com/office/powerpoint/2010/main" val="705598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CA932-BE3A-1CDE-A7FB-38D98830F8F3}"/>
              </a:ext>
            </a:extLst>
          </p:cNvPr>
          <p:cNvSpPr>
            <a:spLocks noGrp="1"/>
          </p:cNvSpPr>
          <p:nvPr>
            <p:ph type="title"/>
          </p:nvPr>
        </p:nvSpPr>
        <p:spPr/>
        <p:txBody>
          <a:bodyPr/>
          <a:lstStyle/>
          <a:p>
            <a:r>
              <a:rPr lang="en-AU" dirty="0"/>
              <a:t>Operations</a:t>
            </a:r>
          </a:p>
        </p:txBody>
      </p:sp>
      <p:sp>
        <p:nvSpPr>
          <p:cNvPr id="4" name="Content Placeholder 2">
            <a:extLst>
              <a:ext uri="{FF2B5EF4-FFF2-40B4-BE49-F238E27FC236}">
                <a16:creationId xmlns:a16="http://schemas.microsoft.com/office/drawing/2014/main" id="{0F382E68-A4DA-04A7-9E80-349C5BF8B02B}"/>
              </a:ext>
            </a:extLst>
          </p:cNvPr>
          <p:cNvSpPr txBox="1">
            <a:spLocks/>
          </p:cNvSpPr>
          <p:nvPr/>
        </p:nvSpPr>
        <p:spPr>
          <a:xfrm>
            <a:off x="838200" y="181363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a:t>We can perform mathematical operations on arrays and single values</a:t>
            </a:r>
            <a:endParaRPr lang="en-AU" dirty="0"/>
          </a:p>
        </p:txBody>
      </p:sp>
      <p:pic>
        <p:nvPicPr>
          <p:cNvPr id="6" name="Picture 5">
            <a:extLst>
              <a:ext uri="{FF2B5EF4-FFF2-40B4-BE49-F238E27FC236}">
                <a16:creationId xmlns:a16="http://schemas.microsoft.com/office/drawing/2014/main" id="{7F9985D0-3F65-1987-AFEC-4A1F27DC5C22}"/>
              </a:ext>
            </a:extLst>
          </p:cNvPr>
          <p:cNvPicPr>
            <a:picLocks noChangeAspect="1"/>
          </p:cNvPicPr>
          <p:nvPr/>
        </p:nvPicPr>
        <p:blipFill>
          <a:blip r:embed="rId2"/>
          <a:stretch>
            <a:fillRect/>
          </a:stretch>
        </p:blipFill>
        <p:spPr>
          <a:xfrm>
            <a:off x="2652693" y="2777601"/>
            <a:ext cx="6470758" cy="3387376"/>
          </a:xfrm>
          <a:prstGeom prst="rect">
            <a:avLst/>
          </a:prstGeom>
        </p:spPr>
      </p:pic>
    </p:spTree>
    <p:extLst>
      <p:ext uri="{BB962C8B-B14F-4D97-AF65-F5344CB8AC3E}">
        <p14:creationId xmlns:p14="http://schemas.microsoft.com/office/powerpoint/2010/main" val="130569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7911-FDD1-828B-F35F-7A519FDE23ED}"/>
              </a:ext>
            </a:extLst>
          </p:cNvPr>
          <p:cNvSpPr>
            <a:spLocks noGrp="1"/>
          </p:cNvSpPr>
          <p:nvPr>
            <p:ph type="title"/>
          </p:nvPr>
        </p:nvSpPr>
        <p:spPr/>
        <p:txBody>
          <a:bodyPr/>
          <a:lstStyle/>
          <a:p>
            <a:r>
              <a:rPr lang="en-AU" dirty="0"/>
              <a:t>Task 1</a:t>
            </a:r>
          </a:p>
        </p:txBody>
      </p:sp>
      <p:sp>
        <p:nvSpPr>
          <p:cNvPr id="3" name="Content Placeholder 2">
            <a:extLst>
              <a:ext uri="{FF2B5EF4-FFF2-40B4-BE49-F238E27FC236}">
                <a16:creationId xmlns:a16="http://schemas.microsoft.com/office/drawing/2014/main" id="{04A49B6E-EFCC-6394-1D79-D7893DA4B10E}"/>
              </a:ext>
            </a:extLst>
          </p:cNvPr>
          <p:cNvSpPr>
            <a:spLocks noGrp="1"/>
          </p:cNvSpPr>
          <p:nvPr>
            <p:ph idx="1"/>
          </p:nvPr>
        </p:nvSpPr>
        <p:spPr/>
        <p:txBody>
          <a:bodyPr/>
          <a:lstStyle/>
          <a:p>
            <a:r>
              <a:rPr lang="en-AU" dirty="0"/>
              <a:t>Create a </a:t>
            </a:r>
            <a:r>
              <a:rPr lang="en-AU" dirty="0" err="1"/>
              <a:t>numpy</a:t>
            </a:r>
            <a:r>
              <a:rPr lang="en-AU" dirty="0"/>
              <a:t> array from a list with several numbers</a:t>
            </a:r>
          </a:p>
          <a:p>
            <a:r>
              <a:rPr lang="en-AU" dirty="0"/>
              <a:t>Multiply that array with a single value</a:t>
            </a:r>
          </a:p>
          <a:p>
            <a:r>
              <a:rPr lang="en-AU" dirty="0"/>
              <a:t>Subtract from the array a single value</a:t>
            </a:r>
          </a:p>
          <a:p>
            <a:r>
              <a:rPr lang="en-AU" dirty="0"/>
              <a:t>Divide the array by a single value</a:t>
            </a:r>
          </a:p>
        </p:txBody>
      </p:sp>
    </p:spTree>
    <p:extLst>
      <p:ext uri="{BB962C8B-B14F-4D97-AF65-F5344CB8AC3E}">
        <p14:creationId xmlns:p14="http://schemas.microsoft.com/office/powerpoint/2010/main" val="702765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C872B-D8FA-38D2-C310-D3DDFAD8D0B5}"/>
              </a:ext>
            </a:extLst>
          </p:cNvPr>
          <p:cNvSpPr>
            <a:spLocks noGrp="1"/>
          </p:cNvSpPr>
          <p:nvPr>
            <p:ph type="title"/>
          </p:nvPr>
        </p:nvSpPr>
        <p:spPr/>
        <p:txBody>
          <a:bodyPr/>
          <a:lstStyle/>
          <a:p>
            <a:r>
              <a:rPr lang="en-AU" dirty="0"/>
              <a:t>Operations</a:t>
            </a:r>
          </a:p>
        </p:txBody>
      </p:sp>
      <p:sp>
        <p:nvSpPr>
          <p:cNvPr id="3" name="Content Placeholder 2">
            <a:extLst>
              <a:ext uri="{FF2B5EF4-FFF2-40B4-BE49-F238E27FC236}">
                <a16:creationId xmlns:a16="http://schemas.microsoft.com/office/drawing/2014/main" id="{445695D6-DF6C-1248-C872-A7B6635F5EB8}"/>
              </a:ext>
            </a:extLst>
          </p:cNvPr>
          <p:cNvSpPr>
            <a:spLocks noGrp="1"/>
          </p:cNvSpPr>
          <p:nvPr>
            <p:ph idx="1"/>
          </p:nvPr>
        </p:nvSpPr>
        <p:spPr>
          <a:xfrm>
            <a:off x="838200" y="1599593"/>
            <a:ext cx="10515600" cy="4351338"/>
          </a:xfrm>
        </p:spPr>
        <p:txBody>
          <a:bodyPr/>
          <a:lstStyle/>
          <a:p>
            <a:r>
              <a:rPr lang="en-AU" dirty="0"/>
              <a:t>We can also perform mathematical operations on multiple arrays which have the same shape</a:t>
            </a:r>
          </a:p>
        </p:txBody>
      </p:sp>
      <p:pic>
        <p:nvPicPr>
          <p:cNvPr id="5" name="Picture 4">
            <a:extLst>
              <a:ext uri="{FF2B5EF4-FFF2-40B4-BE49-F238E27FC236}">
                <a16:creationId xmlns:a16="http://schemas.microsoft.com/office/drawing/2014/main" id="{B0A3C0B6-D171-2E78-9D5A-40B9FF5CA7B4}"/>
              </a:ext>
            </a:extLst>
          </p:cNvPr>
          <p:cNvPicPr>
            <a:picLocks noChangeAspect="1"/>
          </p:cNvPicPr>
          <p:nvPr/>
        </p:nvPicPr>
        <p:blipFill>
          <a:blip r:embed="rId2"/>
          <a:stretch>
            <a:fillRect/>
          </a:stretch>
        </p:blipFill>
        <p:spPr>
          <a:xfrm>
            <a:off x="1393410" y="2984232"/>
            <a:ext cx="7370228" cy="3508643"/>
          </a:xfrm>
          <a:prstGeom prst="rect">
            <a:avLst/>
          </a:prstGeom>
        </p:spPr>
      </p:pic>
    </p:spTree>
    <p:extLst>
      <p:ext uri="{BB962C8B-B14F-4D97-AF65-F5344CB8AC3E}">
        <p14:creationId xmlns:p14="http://schemas.microsoft.com/office/powerpoint/2010/main" val="4129000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81EB7-4B64-BF14-8A9C-1ACFC04B1622}"/>
              </a:ext>
            </a:extLst>
          </p:cNvPr>
          <p:cNvSpPr>
            <a:spLocks noGrp="1"/>
          </p:cNvSpPr>
          <p:nvPr>
            <p:ph type="title"/>
          </p:nvPr>
        </p:nvSpPr>
        <p:spPr/>
        <p:txBody>
          <a:bodyPr/>
          <a:lstStyle/>
          <a:p>
            <a:r>
              <a:rPr lang="en-AU" dirty="0"/>
              <a:t>Task 2</a:t>
            </a:r>
          </a:p>
        </p:txBody>
      </p:sp>
      <p:sp>
        <p:nvSpPr>
          <p:cNvPr id="3" name="Content Placeholder 2">
            <a:extLst>
              <a:ext uri="{FF2B5EF4-FFF2-40B4-BE49-F238E27FC236}">
                <a16:creationId xmlns:a16="http://schemas.microsoft.com/office/drawing/2014/main" id="{AF063275-FED7-1945-1CD1-BA05F9F89A9F}"/>
              </a:ext>
            </a:extLst>
          </p:cNvPr>
          <p:cNvSpPr>
            <a:spLocks noGrp="1"/>
          </p:cNvSpPr>
          <p:nvPr>
            <p:ph idx="1"/>
          </p:nvPr>
        </p:nvSpPr>
        <p:spPr/>
        <p:txBody>
          <a:bodyPr/>
          <a:lstStyle/>
          <a:p>
            <a:r>
              <a:rPr lang="en-AU" dirty="0"/>
              <a:t>Create two arrays of the same shape</a:t>
            </a:r>
          </a:p>
          <a:p>
            <a:r>
              <a:rPr lang="en-AU" dirty="0"/>
              <a:t>Try multiplying, dividing, and summing them </a:t>
            </a:r>
          </a:p>
        </p:txBody>
      </p:sp>
    </p:spTree>
    <p:extLst>
      <p:ext uri="{BB962C8B-B14F-4D97-AF65-F5344CB8AC3E}">
        <p14:creationId xmlns:p14="http://schemas.microsoft.com/office/powerpoint/2010/main" val="3176965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9F82-2976-CB98-3B03-FFED7F7B2096}"/>
              </a:ext>
            </a:extLst>
          </p:cNvPr>
          <p:cNvSpPr>
            <a:spLocks noGrp="1"/>
          </p:cNvSpPr>
          <p:nvPr>
            <p:ph type="title"/>
          </p:nvPr>
        </p:nvSpPr>
        <p:spPr/>
        <p:txBody>
          <a:bodyPr/>
          <a:lstStyle/>
          <a:p>
            <a:r>
              <a:rPr lang="en-AU" dirty="0"/>
              <a:t>What is Array shape?</a:t>
            </a:r>
          </a:p>
        </p:txBody>
      </p:sp>
      <p:sp>
        <p:nvSpPr>
          <p:cNvPr id="3" name="Content Placeholder 2">
            <a:extLst>
              <a:ext uri="{FF2B5EF4-FFF2-40B4-BE49-F238E27FC236}">
                <a16:creationId xmlns:a16="http://schemas.microsoft.com/office/drawing/2014/main" id="{CAEE0484-9B03-B390-C913-E881AC2BF903}"/>
              </a:ext>
            </a:extLst>
          </p:cNvPr>
          <p:cNvSpPr>
            <a:spLocks noGrp="1"/>
          </p:cNvSpPr>
          <p:nvPr>
            <p:ph idx="1"/>
          </p:nvPr>
        </p:nvSpPr>
        <p:spPr/>
        <p:txBody>
          <a:bodyPr/>
          <a:lstStyle/>
          <a:p>
            <a:r>
              <a:rPr lang="en-AU" dirty="0"/>
              <a:t>Lists are one dimensional, so they have a length</a:t>
            </a:r>
          </a:p>
          <a:p>
            <a:r>
              <a:rPr lang="en-AU" dirty="0"/>
              <a:t>Arrays can be multidimensional, so they have a shape</a:t>
            </a:r>
          </a:p>
        </p:txBody>
      </p:sp>
    </p:spTree>
    <p:extLst>
      <p:ext uri="{BB962C8B-B14F-4D97-AF65-F5344CB8AC3E}">
        <p14:creationId xmlns:p14="http://schemas.microsoft.com/office/powerpoint/2010/main" val="2374919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31A46-1B47-2C00-79DC-408AA1B4C78D}"/>
              </a:ext>
            </a:extLst>
          </p:cNvPr>
          <p:cNvSpPr>
            <a:spLocks noGrp="1"/>
          </p:cNvSpPr>
          <p:nvPr>
            <p:ph type="title"/>
          </p:nvPr>
        </p:nvSpPr>
        <p:spPr/>
        <p:txBody>
          <a:bodyPr/>
          <a:lstStyle/>
          <a:p>
            <a:r>
              <a:rPr lang="en-AU" dirty="0"/>
              <a:t>Creating a multidimensional array</a:t>
            </a:r>
          </a:p>
        </p:txBody>
      </p:sp>
      <p:sp>
        <p:nvSpPr>
          <p:cNvPr id="3" name="Content Placeholder 2">
            <a:extLst>
              <a:ext uri="{FF2B5EF4-FFF2-40B4-BE49-F238E27FC236}">
                <a16:creationId xmlns:a16="http://schemas.microsoft.com/office/drawing/2014/main" id="{1C55C4B8-6EEA-486D-6D56-805CEABBD483}"/>
              </a:ext>
            </a:extLst>
          </p:cNvPr>
          <p:cNvSpPr>
            <a:spLocks noGrp="1"/>
          </p:cNvSpPr>
          <p:nvPr>
            <p:ph idx="1"/>
          </p:nvPr>
        </p:nvSpPr>
        <p:spPr/>
        <p:txBody>
          <a:bodyPr/>
          <a:lstStyle/>
          <a:p>
            <a:r>
              <a:rPr lang="en-AU" dirty="0"/>
              <a:t>A 2-dimensional array has columns and rows</a:t>
            </a:r>
          </a:p>
        </p:txBody>
      </p:sp>
      <p:pic>
        <p:nvPicPr>
          <p:cNvPr id="5" name="Picture 4" descr="A screenshot of a computer&#10;&#10;Description automatically generated">
            <a:extLst>
              <a:ext uri="{FF2B5EF4-FFF2-40B4-BE49-F238E27FC236}">
                <a16:creationId xmlns:a16="http://schemas.microsoft.com/office/drawing/2014/main" id="{B3498CDD-1A27-898E-8671-4050A48BA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6968" y="1825625"/>
            <a:ext cx="7735503" cy="4324850"/>
          </a:xfrm>
          <a:prstGeom prst="rect">
            <a:avLst/>
          </a:prstGeom>
        </p:spPr>
      </p:pic>
    </p:spTree>
    <p:extLst>
      <p:ext uri="{BB962C8B-B14F-4D97-AF65-F5344CB8AC3E}">
        <p14:creationId xmlns:p14="http://schemas.microsoft.com/office/powerpoint/2010/main" val="1844456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79B9E-89A9-7D80-C7B1-3105AB397D34}"/>
              </a:ext>
            </a:extLst>
          </p:cNvPr>
          <p:cNvSpPr>
            <a:spLocks noGrp="1"/>
          </p:cNvSpPr>
          <p:nvPr>
            <p:ph type="title"/>
          </p:nvPr>
        </p:nvSpPr>
        <p:spPr/>
        <p:txBody>
          <a:bodyPr/>
          <a:lstStyle/>
          <a:p>
            <a:r>
              <a:rPr lang="en-AU" dirty="0"/>
              <a:t>2D array</a:t>
            </a:r>
          </a:p>
        </p:txBody>
      </p:sp>
      <p:sp>
        <p:nvSpPr>
          <p:cNvPr id="3" name="Content Placeholder 2">
            <a:extLst>
              <a:ext uri="{FF2B5EF4-FFF2-40B4-BE49-F238E27FC236}">
                <a16:creationId xmlns:a16="http://schemas.microsoft.com/office/drawing/2014/main" id="{B107061E-56A8-F254-67E6-8CF91179CA89}"/>
              </a:ext>
            </a:extLst>
          </p:cNvPr>
          <p:cNvSpPr>
            <a:spLocks noGrp="1"/>
          </p:cNvSpPr>
          <p:nvPr>
            <p:ph idx="1"/>
          </p:nvPr>
        </p:nvSpPr>
        <p:spPr>
          <a:xfrm>
            <a:off x="728133" y="1876425"/>
            <a:ext cx="3498788" cy="4351338"/>
          </a:xfrm>
        </p:spPr>
        <p:txBody>
          <a:bodyPr/>
          <a:lstStyle/>
          <a:p>
            <a:r>
              <a:rPr lang="en-AU" dirty="0"/>
              <a:t>List of lists</a:t>
            </a:r>
          </a:p>
          <a:p>
            <a:r>
              <a:rPr lang="en-AU" dirty="0"/>
              <a:t>Rows and columns</a:t>
            </a:r>
          </a:p>
          <a:p>
            <a:r>
              <a:rPr lang="en-AU" dirty="0"/>
              <a:t>This array has 2 rows and 5 columns</a:t>
            </a:r>
          </a:p>
        </p:txBody>
      </p:sp>
      <p:pic>
        <p:nvPicPr>
          <p:cNvPr id="6" name="Picture 5">
            <a:extLst>
              <a:ext uri="{FF2B5EF4-FFF2-40B4-BE49-F238E27FC236}">
                <a16:creationId xmlns:a16="http://schemas.microsoft.com/office/drawing/2014/main" id="{3C69411E-B868-6F28-1EF5-A92C35905751}"/>
              </a:ext>
            </a:extLst>
          </p:cNvPr>
          <p:cNvPicPr>
            <a:picLocks noChangeAspect="1"/>
          </p:cNvPicPr>
          <p:nvPr/>
        </p:nvPicPr>
        <p:blipFill>
          <a:blip r:embed="rId2"/>
          <a:stretch>
            <a:fillRect/>
          </a:stretch>
        </p:blipFill>
        <p:spPr>
          <a:xfrm>
            <a:off x="4336988" y="2256330"/>
            <a:ext cx="7476387" cy="4351338"/>
          </a:xfrm>
          <a:prstGeom prst="rect">
            <a:avLst/>
          </a:prstGeom>
        </p:spPr>
      </p:pic>
    </p:spTree>
    <p:extLst>
      <p:ext uri="{BB962C8B-B14F-4D97-AF65-F5344CB8AC3E}">
        <p14:creationId xmlns:p14="http://schemas.microsoft.com/office/powerpoint/2010/main" val="2665090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79B9E-89A9-7D80-C7B1-3105AB397D34}"/>
              </a:ext>
            </a:extLst>
          </p:cNvPr>
          <p:cNvSpPr>
            <a:spLocks noGrp="1"/>
          </p:cNvSpPr>
          <p:nvPr>
            <p:ph type="title"/>
          </p:nvPr>
        </p:nvSpPr>
        <p:spPr/>
        <p:txBody>
          <a:bodyPr/>
          <a:lstStyle/>
          <a:p>
            <a:r>
              <a:rPr lang="en-AU" dirty="0"/>
              <a:t>2D array</a:t>
            </a:r>
          </a:p>
        </p:txBody>
      </p:sp>
      <p:sp>
        <p:nvSpPr>
          <p:cNvPr id="3" name="Content Placeholder 2">
            <a:extLst>
              <a:ext uri="{FF2B5EF4-FFF2-40B4-BE49-F238E27FC236}">
                <a16:creationId xmlns:a16="http://schemas.microsoft.com/office/drawing/2014/main" id="{B107061E-56A8-F254-67E6-8CF91179CA89}"/>
              </a:ext>
            </a:extLst>
          </p:cNvPr>
          <p:cNvSpPr>
            <a:spLocks noGrp="1"/>
          </p:cNvSpPr>
          <p:nvPr>
            <p:ph idx="1"/>
          </p:nvPr>
        </p:nvSpPr>
        <p:spPr>
          <a:xfrm>
            <a:off x="728133" y="1876425"/>
            <a:ext cx="3498788" cy="4351338"/>
          </a:xfrm>
        </p:spPr>
        <p:txBody>
          <a:bodyPr/>
          <a:lstStyle/>
          <a:p>
            <a:r>
              <a:rPr lang="en-AU" dirty="0"/>
              <a:t>List of lists</a:t>
            </a:r>
          </a:p>
          <a:p>
            <a:r>
              <a:rPr lang="en-AU" dirty="0"/>
              <a:t>Rows and columns</a:t>
            </a:r>
          </a:p>
          <a:p>
            <a:r>
              <a:rPr lang="en-AU" dirty="0"/>
              <a:t>This array has 2 rows and 5 columns</a:t>
            </a:r>
          </a:p>
          <a:p>
            <a:r>
              <a:rPr lang="en-AU" dirty="0"/>
              <a:t>Arrays have a property called shape</a:t>
            </a:r>
          </a:p>
        </p:txBody>
      </p:sp>
      <p:pic>
        <p:nvPicPr>
          <p:cNvPr id="5" name="Picture 4">
            <a:extLst>
              <a:ext uri="{FF2B5EF4-FFF2-40B4-BE49-F238E27FC236}">
                <a16:creationId xmlns:a16="http://schemas.microsoft.com/office/drawing/2014/main" id="{54961303-7878-4AD7-220A-01A4526505D5}"/>
              </a:ext>
            </a:extLst>
          </p:cNvPr>
          <p:cNvPicPr>
            <a:picLocks noChangeAspect="1"/>
          </p:cNvPicPr>
          <p:nvPr/>
        </p:nvPicPr>
        <p:blipFill>
          <a:blip r:embed="rId2"/>
          <a:stretch>
            <a:fillRect/>
          </a:stretch>
        </p:blipFill>
        <p:spPr>
          <a:xfrm>
            <a:off x="4226921" y="2615141"/>
            <a:ext cx="8002625" cy="3920067"/>
          </a:xfrm>
          <a:prstGeom prst="rect">
            <a:avLst/>
          </a:prstGeom>
        </p:spPr>
      </p:pic>
    </p:spTree>
    <p:extLst>
      <p:ext uri="{BB962C8B-B14F-4D97-AF65-F5344CB8AC3E}">
        <p14:creationId xmlns:p14="http://schemas.microsoft.com/office/powerpoint/2010/main" val="1505696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8B3D0-9D33-0134-9B54-8E1518F35131}"/>
              </a:ext>
            </a:extLst>
          </p:cNvPr>
          <p:cNvSpPr>
            <a:spLocks noGrp="1"/>
          </p:cNvSpPr>
          <p:nvPr>
            <p:ph type="title"/>
          </p:nvPr>
        </p:nvSpPr>
        <p:spPr/>
        <p:txBody>
          <a:bodyPr/>
          <a:lstStyle/>
          <a:p>
            <a:r>
              <a:rPr lang="en-AU" dirty="0"/>
              <a:t>When creating an array all lists must be the same shape</a:t>
            </a:r>
          </a:p>
        </p:txBody>
      </p:sp>
      <p:sp>
        <p:nvSpPr>
          <p:cNvPr id="3" name="Content Placeholder 2">
            <a:extLst>
              <a:ext uri="{FF2B5EF4-FFF2-40B4-BE49-F238E27FC236}">
                <a16:creationId xmlns:a16="http://schemas.microsoft.com/office/drawing/2014/main" id="{19A6255E-E51F-A9FA-06BE-BF3866F8AE2B}"/>
              </a:ext>
            </a:extLst>
          </p:cNvPr>
          <p:cNvSpPr>
            <a:spLocks noGrp="1"/>
          </p:cNvSpPr>
          <p:nvPr>
            <p:ph idx="1"/>
          </p:nvPr>
        </p:nvSpPr>
        <p:spPr/>
        <p:txBody>
          <a:bodyPr/>
          <a:lstStyle/>
          <a:p>
            <a:r>
              <a:rPr lang="en-AU" dirty="0"/>
              <a:t>If we combine two lists to create an array both must have the same length</a:t>
            </a:r>
          </a:p>
          <a:p>
            <a:r>
              <a:rPr lang="en-AU" dirty="0"/>
              <a:t>If there are two lists there are two rows</a:t>
            </a:r>
          </a:p>
          <a:p>
            <a:r>
              <a:rPr lang="en-AU" dirty="0"/>
              <a:t>There must be a constant number of columns</a:t>
            </a:r>
          </a:p>
        </p:txBody>
      </p:sp>
      <p:pic>
        <p:nvPicPr>
          <p:cNvPr id="5" name="Picture 4">
            <a:extLst>
              <a:ext uri="{FF2B5EF4-FFF2-40B4-BE49-F238E27FC236}">
                <a16:creationId xmlns:a16="http://schemas.microsoft.com/office/drawing/2014/main" id="{225E39C7-432D-D07B-9159-50C7261920BC}"/>
              </a:ext>
            </a:extLst>
          </p:cNvPr>
          <p:cNvPicPr>
            <a:picLocks noChangeAspect="1"/>
          </p:cNvPicPr>
          <p:nvPr/>
        </p:nvPicPr>
        <p:blipFill>
          <a:blip r:embed="rId2"/>
          <a:stretch>
            <a:fillRect/>
          </a:stretch>
        </p:blipFill>
        <p:spPr>
          <a:xfrm>
            <a:off x="1914745" y="3890682"/>
            <a:ext cx="7306484" cy="2602193"/>
          </a:xfrm>
          <a:prstGeom prst="rect">
            <a:avLst/>
          </a:prstGeom>
        </p:spPr>
      </p:pic>
    </p:spTree>
    <p:extLst>
      <p:ext uri="{BB962C8B-B14F-4D97-AF65-F5344CB8AC3E}">
        <p14:creationId xmlns:p14="http://schemas.microsoft.com/office/powerpoint/2010/main" val="1535829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EE30B-B51D-F3D1-1E29-504562CC04ED}"/>
              </a:ext>
            </a:extLst>
          </p:cNvPr>
          <p:cNvSpPr>
            <a:spLocks noGrp="1"/>
          </p:cNvSpPr>
          <p:nvPr>
            <p:ph type="title"/>
          </p:nvPr>
        </p:nvSpPr>
        <p:spPr/>
        <p:txBody>
          <a:bodyPr/>
          <a:lstStyle/>
          <a:p>
            <a:r>
              <a:rPr lang="en-AU" dirty="0"/>
              <a:t>Task 3</a:t>
            </a:r>
          </a:p>
        </p:txBody>
      </p:sp>
      <p:sp>
        <p:nvSpPr>
          <p:cNvPr id="3" name="Content Placeholder 2">
            <a:extLst>
              <a:ext uri="{FF2B5EF4-FFF2-40B4-BE49-F238E27FC236}">
                <a16:creationId xmlns:a16="http://schemas.microsoft.com/office/drawing/2014/main" id="{8E822A45-042A-6250-8FA6-2C07C0135CDB}"/>
              </a:ext>
            </a:extLst>
          </p:cNvPr>
          <p:cNvSpPr>
            <a:spLocks noGrp="1"/>
          </p:cNvSpPr>
          <p:nvPr>
            <p:ph idx="1"/>
          </p:nvPr>
        </p:nvSpPr>
        <p:spPr/>
        <p:txBody>
          <a:bodyPr/>
          <a:lstStyle/>
          <a:p>
            <a:r>
              <a:rPr lang="en-AU" dirty="0"/>
              <a:t>Create a multidimensional array with a shape of your choosing</a:t>
            </a:r>
          </a:p>
          <a:p>
            <a:r>
              <a:rPr lang="en-AU" dirty="0"/>
              <a:t>Print the array shape</a:t>
            </a:r>
          </a:p>
          <a:p>
            <a:endParaRPr lang="en-AU" dirty="0"/>
          </a:p>
        </p:txBody>
      </p:sp>
    </p:spTree>
    <p:extLst>
      <p:ext uri="{BB962C8B-B14F-4D97-AF65-F5344CB8AC3E}">
        <p14:creationId xmlns:p14="http://schemas.microsoft.com/office/powerpoint/2010/main" val="4268419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88320-3A22-BCF4-1FAF-9A8EB9ABB470}"/>
              </a:ext>
            </a:extLst>
          </p:cNvPr>
          <p:cNvSpPr>
            <a:spLocks noGrp="1"/>
          </p:cNvSpPr>
          <p:nvPr>
            <p:ph type="title"/>
          </p:nvPr>
        </p:nvSpPr>
        <p:spPr/>
        <p:txBody>
          <a:bodyPr/>
          <a:lstStyle/>
          <a:p>
            <a:r>
              <a:rPr lang="en-AU" dirty="0"/>
              <a:t>Array Indexing</a:t>
            </a:r>
          </a:p>
        </p:txBody>
      </p:sp>
      <p:sp>
        <p:nvSpPr>
          <p:cNvPr id="3" name="Content Placeholder 2">
            <a:extLst>
              <a:ext uri="{FF2B5EF4-FFF2-40B4-BE49-F238E27FC236}">
                <a16:creationId xmlns:a16="http://schemas.microsoft.com/office/drawing/2014/main" id="{D2921DA5-DBFA-6362-14AB-FB4735A3AAC2}"/>
              </a:ext>
            </a:extLst>
          </p:cNvPr>
          <p:cNvSpPr>
            <a:spLocks noGrp="1"/>
          </p:cNvSpPr>
          <p:nvPr>
            <p:ph idx="1"/>
          </p:nvPr>
        </p:nvSpPr>
        <p:spPr/>
        <p:txBody>
          <a:bodyPr/>
          <a:lstStyle/>
          <a:p>
            <a:r>
              <a:rPr lang="en-AU" dirty="0"/>
              <a:t>[ </a:t>
            </a:r>
            <a:r>
              <a:rPr lang="en-AU" dirty="0" err="1"/>
              <a:t>first_dimension</a:t>
            </a:r>
            <a:r>
              <a:rPr lang="en-AU" dirty="0"/>
              <a:t>, </a:t>
            </a:r>
            <a:r>
              <a:rPr lang="en-AU" dirty="0" err="1"/>
              <a:t>second_dimension</a:t>
            </a:r>
            <a:r>
              <a:rPr lang="en-AU" dirty="0"/>
              <a:t>, </a:t>
            </a:r>
            <a:r>
              <a:rPr lang="en-AU" dirty="0" err="1"/>
              <a:t>third_dimension</a:t>
            </a:r>
            <a:r>
              <a:rPr lang="en-AU" dirty="0"/>
              <a:t>, etc ]</a:t>
            </a:r>
          </a:p>
        </p:txBody>
      </p:sp>
      <p:pic>
        <p:nvPicPr>
          <p:cNvPr id="7" name="Picture 6">
            <a:extLst>
              <a:ext uri="{FF2B5EF4-FFF2-40B4-BE49-F238E27FC236}">
                <a16:creationId xmlns:a16="http://schemas.microsoft.com/office/drawing/2014/main" id="{E6C374BF-1817-3040-A2C2-7F4000E6D743}"/>
              </a:ext>
            </a:extLst>
          </p:cNvPr>
          <p:cNvPicPr>
            <a:picLocks noChangeAspect="1"/>
          </p:cNvPicPr>
          <p:nvPr/>
        </p:nvPicPr>
        <p:blipFill>
          <a:blip r:embed="rId2"/>
          <a:stretch>
            <a:fillRect/>
          </a:stretch>
        </p:blipFill>
        <p:spPr>
          <a:xfrm>
            <a:off x="1661091" y="2523782"/>
            <a:ext cx="6810555" cy="3891746"/>
          </a:xfrm>
          <a:prstGeom prst="rect">
            <a:avLst/>
          </a:prstGeom>
        </p:spPr>
      </p:pic>
    </p:spTree>
    <p:extLst>
      <p:ext uri="{BB962C8B-B14F-4D97-AF65-F5344CB8AC3E}">
        <p14:creationId xmlns:p14="http://schemas.microsoft.com/office/powerpoint/2010/main" val="2455747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88320-3A22-BCF4-1FAF-9A8EB9ABB470}"/>
              </a:ext>
            </a:extLst>
          </p:cNvPr>
          <p:cNvSpPr>
            <a:spLocks noGrp="1"/>
          </p:cNvSpPr>
          <p:nvPr>
            <p:ph type="title"/>
          </p:nvPr>
        </p:nvSpPr>
        <p:spPr/>
        <p:txBody>
          <a:bodyPr/>
          <a:lstStyle/>
          <a:p>
            <a:r>
              <a:rPr lang="en-AU" dirty="0"/>
              <a:t>Array Indexing</a:t>
            </a:r>
          </a:p>
        </p:txBody>
      </p:sp>
      <p:sp>
        <p:nvSpPr>
          <p:cNvPr id="3" name="Content Placeholder 2">
            <a:extLst>
              <a:ext uri="{FF2B5EF4-FFF2-40B4-BE49-F238E27FC236}">
                <a16:creationId xmlns:a16="http://schemas.microsoft.com/office/drawing/2014/main" id="{D2921DA5-DBFA-6362-14AB-FB4735A3AAC2}"/>
              </a:ext>
            </a:extLst>
          </p:cNvPr>
          <p:cNvSpPr>
            <a:spLocks noGrp="1"/>
          </p:cNvSpPr>
          <p:nvPr>
            <p:ph idx="1"/>
          </p:nvPr>
        </p:nvSpPr>
        <p:spPr/>
        <p:txBody>
          <a:bodyPr/>
          <a:lstStyle/>
          <a:p>
            <a:r>
              <a:rPr lang="en-AU" dirty="0"/>
              <a:t>[ </a:t>
            </a:r>
            <a:r>
              <a:rPr lang="en-AU" dirty="0" err="1"/>
              <a:t>first_dimension</a:t>
            </a:r>
            <a:r>
              <a:rPr lang="en-AU" dirty="0"/>
              <a:t>, </a:t>
            </a:r>
            <a:r>
              <a:rPr lang="en-AU" dirty="0" err="1"/>
              <a:t>second_dimension</a:t>
            </a:r>
            <a:r>
              <a:rPr lang="en-AU" dirty="0"/>
              <a:t>, </a:t>
            </a:r>
            <a:r>
              <a:rPr lang="en-AU" dirty="0" err="1"/>
              <a:t>third_dimension</a:t>
            </a:r>
            <a:r>
              <a:rPr lang="en-AU" dirty="0"/>
              <a:t>, etc ]</a:t>
            </a:r>
          </a:p>
        </p:txBody>
      </p:sp>
      <p:pic>
        <p:nvPicPr>
          <p:cNvPr id="5" name="Picture 4">
            <a:extLst>
              <a:ext uri="{FF2B5EF4-FFF2-40B4-BE49-F238E27FC236}">
                <a16:creationId xmlns:a16="http://schemas.microsoft.com/office/drawing/2014/main" id="{448B04FD-E362-1DB6-016A-D04DF0252160}"/>
              </a:ext>
            </a:extLst>
          </p:cNvPr>
          <p:cNvPicPr>
            <a:picLocks noChangeAspect="1"/>
          </p:cNvPicPr>
          <p:nvPr/>
        </p:nvPicPr>
        <p:blipFill>
          <a:blip r:embed="rId2"/>
          <a:stretch>
            <a:fillRect/>
          </a:stretch>
        </p:blipFill>
        <p:spPr>
          <a:xfrm>
            <a:off x="1498539" y="2442600"/>
            <a:ext cx="8031819" cy="4186799"/>
          </a:xfrm>
          <a:prstGeom prst="rect">
            <a:avLst/>
          </a:prstGeom>
        </p:spPr>
      </p:pic>
    </p:spTree>
    <p:extLst>
      <p:ext uri="{BB962C8B-B14F-4D97-AF65-F5344CB8AC3E}">
        <p14:creationId xmlns:p14="http://schemas.microsoft.com/office/powerpoint/2010/main" val="3665113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664A8-B735-B649-6F1D-968C533F192B}"/>
              </a:ext>
            </a:extLst>
          </p:cNvPr>
          <p:cNvSpPr>
            <a:spLocks noGrp="1"/>
          </p:cNvSpPr>
          <p:nvPr>
            <p:ph type="title"/>
          </p:nvPr>
        </p:nvSpPr>
        <p:spPr/>
        <p:txBody>
          <a:bodyPr/>
          <a:lstStyle/>
          <a:p>
            <a:r>
              <a:rPr lang="en-AU" dirty="0"/>
              <a:t>Task 4	</a:t>
            </a:r>
          </a:p>
        </p:txBody>
      </p:sp>
      <p:sp>
        <p:nvSpPr>
          <p:cNvPr id="3" name="Content Placeholder 2">
            <a:extLst>
              <a:ext uri="{FF2B5EF4-FFF2-40B4-BE49-F238E27FC236}">
                <a16:creationId xmlns:a16="http://schemas.microsoft.com/office/drawing/2014/main" id="{B0FBC52F-6C4F-3505-2D0F-16254DAAB47C}"/>
              </a:ext>
            </a:extLst>
          </p:cNvPr>
          <p:cNvSpPr>
            <a:spLocks noGrp="1"/>
          </p:cNvSpPr>
          <p:nvPr>
            <p:ph idx="1"/>
          </p:nvPr>
        </p:nvSpPr>
        <p:spPr/>
        <p:txBody>
          <a:bodyPr/>
          <a:lstStyle/>
          <a:p>
            <a:r>
              <a:rPr lang="en-AU" dirty="0"/>
              <a:t>Index into your array </a:t>
            </a:r>
          </a:p>
        </p:txBody>
      </p:sp>
    </p:spTree>
    <p:extLst>
      <p:ext uri="{BB962C8B-B14F-4D97-AF65-F5344CB8AC3E}">
        <p14:creationId xmlns:p14="http://schemas.microsoft.com/office/powerpoint/2010/main" val="1984658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C43FC-E882-7D8C-E5C1-5DE9329F70E2}"/>
              </a:ext>
            </a:extLst>
          </p:cNvPr>
          <p:cNvSpPr>
            <a:spLocks noGrp="1"/>
          </p:cNvSpPr>
          <p:nvPr>
            <p:ph type="title"/>
          </p:nvPr>
        </p:nvSpPr>
        <p:spPr/>
        <p:txBody>
          <a:bodyPr/>
          <a:lstStyle/>
          <a:p>
            <a:r>
              <a:rPr lang="en-AU" dirty="0"/>
              <a:t>Range Indexing also works in Arrays</a:t>
            </a:r>
          </a:p>
        </p:txBody>
      </p:sp>
      <p:pic>
        <p:nvPicPr>
          <p:cNvPr id="5" name="Picture 4">
            <a:extLst>
              <a:ext uri="{FF2B5EF4-FFF2-40B4-BE49-F238E27FC236}">
                <a16:creationId xmlns:a16="http://schemas.microsoft.com/office/drawing/2014/main" id="{2BEFA99F-7CAD-7628-5C23-9025BA66B9F2}"/>
              </a:ext>
            </a:extLst>
          </p:cNvPr>
          <p:cNvPicPr>
            <a:picLocks noChangeAspect="1"/>
          </p:cNvPicPr>
          <p:nvPr/>
        </p:nvPicPr>
        <p:blipFill>
          <a:blip r:embed="rId2"/>
          <a:stretch>
            <a:fillRect/>
          </a:stretch>
        </p:blipFill>
        <p:spPr>
          <a:xfrm>
            <a:off x="1419726" y="1690688"/>
            <a:ext cx="8044831" cy="4154300"/>
          </a:xfrm>
          <a:prstGeom prst="rect">
            <a:avLst/>
          </a:prstGeom>
        </p:spPr>
      </p:pic>
    </p:spTree>
    <p:extLst>
      <p:ext uri="{BB962C8B-B14F-4D97-AF65-F5344CB8AC3E}">
        <p14:creationId xmlns:p14="http://schemas.microsoft.com/office/powerpoint/2010/main" val="4000571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855B0-209E-F815-93C2-E3DA3616473D}"/>
              </a:ext>
            </a:extLst>
          </p:cNvPr>
          <p:cNvSpPr>
            <a:spLocks noGrp="1"/>
          </p:cNvSpPr>
          <p:nvPr>
            <p:ph type="title"/>
          </p:nvPr>
        </p:nvSpPr>
        <p:spPr/>
        <p:txBody>
          <a:bodyPr/>
          <a:lstStyle/>
          <a:p>
            <a:r>
              <a:rPr lang="en-AU" dirty="0"/>
              <a:t>Array masking	</a:t>
            </a:r>
          </a:p>
        </p:txBody>
      </p:sp>
      <p:sp>
        <p:nvSpPr>
          <p:cNvPr id="3" name="Content Placeholder 2">
            <a:extLst>
              <a:ext uri="{FF2B5EF4-FFF2-40B4-BE49-F238E27FC236}">
                <a16:creationId xmlns:a16="http://schemas.microsoft.com/office/drawing/2014/main" id="{4DA3787A-CD5F-FEA9-4E58-DAA40705B783}"/>
              </a:ext>
            </a:extLst>
          </p:cNvPr>
          <p:cNvSpPr>
            <a:spLocks noGrp="1"/>
          </p:cNvSpPr>
          <p:nvPr>
            <p:ph idx="1"/>
          </p:nvPr>
        </p:nvSpPr>
        <p:spPr/>
        <p:txBody>
          <a:bodyPr/>
          <a:lstStyle/>
          <a:p>
            <a:r>
              <a:rPr lang="en-AU" dirty="0"/>
              <a:t>You can mask arrays using Booleans to get all the values that meet a certain criteria</a:t>
            </a:r>
          </a:p>
        </p:txBody>
      </p:sp>
      <p:pic>
        <p:nvPicPr>
          <p:cNvPr id="5" name="Picture 4">
            <a:extLst>
              <a:ext uri="{FF2B5EF4-FFF2-40B4-BE49-F238E27FC236}">
                <a16:creationId xmlns:a16="http://schemas.microsoft.com/office/drawing/2014/main" id="{0209AED3-8CC4-2038-ADDD-A02FBC65D5E1}"/>
              </a:ext>
            </a:extLst>
          </p:cNvPr>
          <p:cNvPicPr>
            <a:picLocks noChangeAspect="1"/>
          </p:cNvPicPr>
          <p:nvPr/>
        </p:nvPicPr>
        <p:blipFill>
          <a:blip r:embed="rId2"/>
          <a:stretch>
            <a:fillRect/>
          </a:stretch>
        </p:blipFill>
        <p:spPr>
          <a:xfrm>
            <a:off x="4675785" y="2434628"/>
            <a:ext cx="6377697" cy="4126746"/>
          </a:xfrm>
          <a:prstGeom prst="rect">
            <a:avLst/>
          </a:prstGeom>
        </p:spPr>
      </p:pic>
    </p:spTree>
    <p:extLst>
      <p:ext uri="{BB962C8B-B14F-4D97-AF65-F5344CB8AC3E}">
        <p14:creationId xmlns:p14="http://schemas.microsoft.com/office/powerpoint/2010/main" val="1078539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461BC-9865-AE40-1CAD-1EF8F5B9C136}"/>
              </a:ext>
            </a:extLst>
          </p:cNvPr>
          <p:cNvSpPr>
            <a:spLocks noGrp="1"/>
          </p:cNvSpPr>
          <p:nvPr>
            <p:ph type="title"/>
          </p:nvPr>
        </p:nvSpPr>
        <p:spPr/>
        <p:txBody>
          <a:bodyPr/>
          <a:lstStyle/>
          <a:p>
            <a:r>
              <a:rPr lang="en-AU" dirty="0"/>
              <a:t>Task 5</a:t>
            </a:r>
          </a:p>
        </p:txBody>
      </p:sp>
      <p:sp>
        <p:nvSpPr>
          <p:cNvPr id="3" name="Content Placeholder 2">
            <a:extLst>
              <a:ext uri="{FF2B5EF4-FFF2-40B4-BE49-F238E27FC236}">
                <a16:creationId xmlns:a16="http://schemas.microsoft.com/office/drawing/2014/main" id="{C89C638F-D2F2-D111-52DE-26902FA5F6D1}"/>
              </a:ext>
            </a:extLst>
          </p:cNvPr>
          <p:cNvSpPr>
            <a:spLocks noGrp="1"/>
          </p:cNvSpPr>
          <p:nvPr>
            <p:ph idx="1"/>
          </p:nvPr>
        </p:nvSpPr>
        <p:spPr/>
        <p:txBody>
          <a:bodyPr/>
          <a:lstStyle/>
          <a:p>
            <a:r>
              <a:rPr lang="en-AU" dirty="0"/>
              <a:t>Try different comparison operators to create different masks</a:t>
            </a:r>
          </a:p>
          <a:p>
            <a:r>
              <a:rPr lang="en-AU" dirty="0"/>
              <a:t>Apply the masks to your array</a:t>
            </a:r>
          </a:p>
        </p:txBody>
      </p:sp>
    </p:spTree>
    <p:extLst>
      <p:ext uri="{BB962C8B-B14F-4D97-AF65-F5344CB8AC3E}">
        <p14:creationId xmlns:p14="http://schemas.microsoft.com/office/powerpoint/2010/main" val="1116413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3C04-38B4-8FC7-BAA4-D9AD187A626F}"/>
              </a:ext>
            </a:extLst>
          </p:cNvPr>
          <p:cNvSpPr>
            <a:spLocks noGrp="1"/>
          </p:cNvSpPr>
          <p:nvPr>
            <p:ph type="title"/>
          </p:nvPr>
        </p:nvSpPr>
        <p:spPr/>
        <p:txBody>
          <a:bodyPr/>
          <a:lstStyle/>
          <a:p>
            <a:r>
              <a:rPr lang="en-AU" dirty="0"/>
              <a:t>Pandas </a:t>
            </a:r>
            <a:r>
              <a:rPr lang="en-AU" dirty="0" err="1"/>
              <a:t>DataFrames</a:t>
            </a:r>
            <a:endParaRPr lang="en-AU" dirty="0"/>
          </a:p>
        </p:txBody>
      </p:sp>
      <p:sp>
        <p:nvSpPr>
          <p:cNvPr id="3" name="Content Placeholder 2">
            <a:extLst>
              <a:ext uri="{FF2B5EF4-FFF2-40B4-BE49-F238E27FC236}">
                <a16:creationId xmlns:a16="http://schemas.microsoft.com/office/drawing/2014/main" id="{4CF66351-3DFB-7F62-1489-E60EF654E727}"/>
              </a:ext>
            </a:extLst>
          </p:cNvPr>
          <p:cNvSpPr>
            <a:spLocks noGrp="1"/>
          </p:cNvSpPr>
          <p:nvPr>
            <p:ph idx="1"/>
          </p:nvPr>
        </p:nvSpPr>
        <p:spPr/>
        <p:txBody>
          <a:bodyPr/>
          <a:lstStyle/>
          <a:p>
            <a:r>
              <a:rPr lang="en-AU" dirty="0"/>
              <a:t>Like excel but for python</a:t>
            </a:r>
          </a:p>
          <a:p>
            <a:r>
              <a:rPr lang="en-AU" dirty="0"/>
              <a:t>A pandas </a:t>
            </a:r>
            <a:r>
              <a:rPr lang="en-AU" dirty="0" err="1"/>
              <a:t>DataFrame</a:t>
            </a:r>
            <a:r>
              <a:rPr lang="en-AU" dirty="0"/>
              <a:t> is very similar to a dictionary</a:t>
            </a:r>
          </a:p>
        </p:txBody>
      </p:sp>
      <p:pic>
        <p:nvPicPr>
          <p:cNvPr id="5" name="Picture 4">
            <a:extLst>
              <a:ext uri="{FF2B5EF4-FFF2-40B4-BE49-F238E27FC236}">
                <a16:creationId xmlns:a16="http://schemas.microsoft.com/office/drawing/2014/main" id="{F81DA35C-4CEA-EE6F-DFF1-47D7B0BB3E71}"/>
              </a:ext>
            </a:extLst>
          </p:cNvPr>
          <p:cNvPicPr>
            <a:picLocks noChangeAspect="1"/>
          </p:cNvPicPr>
          <p:nvPr/>
        </p:nvPicPr>
        <p:blipFill>
          <a:blip r:embed="rId2"/>
          <a:stretch>
            <a:fillRect/>
          </a:stretch>
        </p:blipFill>
        <p:spPr>
          <a:xfrm>
            <a:off x="2158369" y="2886666"/>
            <a:ext cx="4896855" cy="3830327"/>
          </a:xfrm>
          <a:prstGeom prst="rect">
            <a:avLst/>
          </a:prstGeom>
        </p:spPr>
      </p:pic>
    </p:spTree>
    <p:extLst>
      <p:ext uri="{BB962C8B-B14F-4D97-AF65-F5344CB8AC3E}">
        <p14:creationId xmlns:p14="http://schemas.microsoft.com/office/powerpoint/2010/main" val="4115339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7547-C51B-D80D-E281-C814527926E0}"/>
              </a:ext>
            </a:extLst>
          </p:cNvPr>
          <p:cNvSpPr>
            <a:spLocks noGrp="1"/>
          </p:cNvSpPr>
          <p:nvPr>
            <p:ph type="title"/>
          </p:nvPr>
        </p:nvSpPr>
        <p:spPr/>
        <p:txBody>
          <a:bodyPr/>
          <a:lstStyle/>
          <a:p>
            <a:r>
              <a:rPr lang="en-AU" dirty="0"/>
              <a:t>Formatting	</a:t>
            </a:r>
          </a:p>
        </p:txBody>
      </p:sp>
      <p:sp>
        <p:nvSpPr>
          <p:cNvPr id="3" name="Content Placeholder 2">
            <a:extLst>
              <a:ext uri="{FF2B5EF4-FFF2-40B4-BE49-F238E27FC236}">
                <a16:creationId xmlns:a16="http://schemas.microsoft.com/office/drawing/2014/main" id="{025B8DD5-CA1C-CE47-B640-9E766B22CC5C}"/>
              </a:ext>
            </a:extLst>
          </p:cNvPr>
          <p:cNvSpPr>
            <a:spLocks noGrp="1"/>
          </p:cNvSpPr>
          <p:nvPr>
            <p:ph idx="1"/>
          </p:nvPr>
        </p:nvSpPr>
        <p:spPr/>
        <p:txBody>
          <a:bodyPr/>
          <a:lstStyle/>
          <a:p>
            <a:r>
              <a:rPr lang="en-AU" dirty="0"/>
              <a:t>If you don’t use print your output will still be displayed if it’s the last line that you run</a:t>
            </a:r>
          </a:p>
          <a:p>
            <a:r>
              <a:rPr lang="en-AU" dirty="0"/>
              <a:t>In </a:t>
            </a:r>
            <a:r>
              <a:rPr lang="en-AU" dirty="0" err="1"/>
              <a:t>Jupyter</a:t>
            </a:r>
            <a:r>
              <a:rPr lang="en-AU" dirty="0"/>
              <a:t> this actually formats things nicer than print</a:t>
            </a:r>
          </a:p>
        </p:txBody>
      </p:sp>
      <p:pic>
        <p:nvPicPr>
          <p:cNvPr id="5" name="Picture 4">
            <a:extLst>
              <a:ext uri="{FF2B5EF4-FFF2-40B4-BE49-F238E27FC236}">
                <a16:creationId xmlns:a16="http://schemas.microsoft.com/office/drawing/2014/main" id="{8DC5CAC3-85B5-E02A-BBD5-30AC70572E0C}"/>
              </a:ext>
            </a:extLst>
          </p:cNvPr>
          <p:cNvPicPr>
            <a:picLocks noChangeAspect="1"/>
          </p:cNvPicPr>
          <p:nvPr/>
        </p:nvPicPr>
        <p:blipFill>
          <a:blip r:embed="rId2"/>
          <a:stretch>
            <a:fillRect/>
          </a:stretch>
        </p:blipFill>
        <p:spPr>
          <a:xfrm>
            <a:off x="1222486" y="3243111"/>
            <a:ext cx="4488032" cy="3448596"/>
          </a:xfrm>
          <a:prstGeom prst="rect">
            <a:avLst/>
          </a:prstGeom>
        </p:spPr>
      </p:pic>
    </p:spTree>
    <p:extLst>
      <p:ext uri="{BB962C8B-B14F-4D97-AF65-F5344CB8AC3E}">
        <p14:creationId xmlns:p14="http://schemas.microsoft.com/office/powerpoint/2010/main" val="3167052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AD85-8322-6697-D478-F2CF856800F3}"/>
              </a:ext>
            </a:extLst>
          </p:cNvPr>
          <p:cNvSpPr>
            <a:spLocks noGrp="1"/>
          </p:cNvSpPr>
          <p:nvPr>
            <p:ph type="title"/>
          </p:nvPr>
        </p:nvSpPr>
        <p:spPr/>
        <p:txBody>
          <a:bodyPr/>
          <a:lstStyle/>
          <a:p>
            <a:r>
              <a:rPr lang="en-AU" dirty="0"/>
              <a:t>Pandas indexing</a:t>
            </a:r>
          </a:p>
        </p:txBody>
      </p:sp>
      <p:sp>
        <p:nvSpPr>
          <p:cNvPr id="3" name="Content Placeholder 2">
            <a:extLst>
              <a:ext uri="{FF2B5EF4-FFF2-40B4-BE49-F238E27FC236}">
                <a16:creationId xmlns:a16="http://schemas.microsoft.com/office/drawing/2014/main" id="{3BC6BACC-954D-8AEC-6C17-2EEC74C5D033}"/>
              </a:ext>
            </a:extLst>
          </p:cNvPr>
          <p:cNvSpPr>
            <a:spLocks noGrp="1"/>
          </p:cNvSpPr>
          <p:nvPr>
            <p:ph idx="1"/>
          </p:nvPr>
        </p:nvSpPr>
        <p:spPr/>
        <p:txBody>
          <a:bodyPr/>
          <a:lstStyle/>
          <a:p>
            <a:r>
              <a:rPr lang="en-AU" dirty="0"/>
              <a:t>We can use a list of columns names to index multiple columns</a:t>
            </a:r>
          </a:p>
        </p:txBody>
      </p:sp>
      <p:pic>
        <p:nvPicPr>
          <p:cNvPr id="5" name="Picture 4">
            <a:extLst>
              <a:ext uri="{FF2B5EF4-FFF2-40B4-BE49-F238E27FC236}">
                <a16:creationId xmlns:a16="http://schemas.microsoft.com/office/drawing/2014/main" id="{79F65044-087F-EA78-ABF7-8362126D7D47}"/>
              </a:ext>
            </a:extLst>
          </p:cNvPr>
          <p:cNvPicPr>
            <a:picLocks noChangeAspect="1"/>
          </p:cNvPicPr>
          <p:nvPr/>
        </p:nvPicPr>
        <p:blipFill>
          <a:blip r:embed="rId2"/>
          <a:stretch>
            <a:fillRect/>
          </a:stretch>
        </p:blipFill>
        <p:spPr>
          <a:xfrm>
            <a:off x="519953" y="2423596"/>
            <a:ext cx="4766869" cy="4069279"/>
          </a:xfrm>
          <a:prstGeom prst="rect">
            <a:avLst/>
          </a:prstGeom>
        </p:spPr>
      </p:pic>
    </p:spTree>
    <p:extLst>
      <p:ext uri="{BB962C8B-B14F-4D97-AF65-F5344CB8AC3E}">
        <p14:creationId xmlns:p14="http://schemas.microsoft.com/office/powerpoint/2010/main" val="306954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FDDA1-833E-B0AD-5F55-7456244C9F03}"/>
              </a:ext>
            </a:extLst>
          </p:cNvPr>
          <p:cNvSpPr>
            <a:spLocks noGrp="1"/>
          </p:cNvSpPr>
          <p:nvPr>
            <p:ph type="title"/>
          </p:nvPr>
        </p:nvSpPr>
        <p:spPr/>
        <p:txBody>
          <a:bodyPr/>
          <a:lstStyle/>
          <a:p>
            <a:r>
              <a:rPr lang="en-AU" dirty="0"/>
              <a:t>Pandas indexing</a:t>
            </a:r>
          </a:p>
        </p:txBody>
      </p:sp>
      <p:sp>
        <p:nvSpPr>
          <p:cNvPr id="3" name="Content Placeholder 2">
            <a:extLst>
              <a:ext uri="{FF2B5EF4-FFF2-40B4-BE49-F238E27FC236}">
                <a16:creationId xmlns:a16="http://schemas.microsoft.com/office/drawing/2014/main" id="{B3976283-3602-2FE6-417B-5282D39E3AEA}"/>
              </a:ext>
            </a:extLst>
          </p:cNvPr>
          <p:cNvSpPr>
            <a:spLocks noGrp="1"/>
          </p:cNvSpPr>
          <p:nvPr>
            <p:ph idx="1"/>
          </p:nvPr>
        </p:nvSpPr>
        <p:spPr/>
        <p:txBody>
          <a:bodyPr/>
          <a:lstStyle/>
          <a:p>
            <a:r>
              <a:rPr lang="en-AU" dirty="0"/>
              <a:t>We can use </a:t>
            </a:r>
            <a:r>
              <a:rPr lang="en-AU" dirty="0" err="1"/>
              <a:t>iloc</a:t>
            </a:r>
            <a:r>
              <a:rPr lang="en-AU" dirty="0"/>
              <a:t> (integer location) and then this will allow us to index like a normal </a:t>
            </a:r>
            <a:r>
              <a:rPr lang="en-AU" dirty="0" err="1"/>
              <a:t>numpy</a:t>
            </a:r>
            <a:r>
              <a:rPr lang="en-AU" dirty="0"/>
              <a:t> array</a:t>
            </a:r>
          </a:p>
        </p:txBody>
      </p:sp>
      <p:pic>
        <p:nvPicPr>
          <p:cNvPr id="5" name="Picture 4">
            <a:extLst>
              <a:ext uri="{FF2B5EF4-FFF2-40B4-BE49-F238E27FC236}">
                <a16:creationId xmlns:a16="http://schemas.microsoft.com/office/drawing/2014/main" id="{D5AACA48-C144-C1E4-ABB1-011354577623}"/>
              </a:ext>
            </a:extLst>
          </p:cNvPr>
          <p:cNvPicPr>
            <a:picLocks noChangeAspect="1"/>
          </p:cNvPicPr>
          <p:nvPr/>
        </p:nvPicPr>
        <p:blipFill>
          <a:blip r:embed="rId2"/>
          <a:stretch>
            <a:fillRect/>
          </a:stretch>
        </p:blipFill>
        <p:spPr>
          <a:xfrm>
            <a:off x="2361566" y="2872769"/>
            <a:ext cx="6325234" cy="3775847"/>
          </a:xfrm>
          <a:prstGeom prst="rect">
            <a:avLst/>
          </a:prstGeom>
        </p:spPr>
      </p:pic>
    </p:spTree>
    <p:extLst>
      <p:ext uri="{BB962C8B-B14F-4D97-AF65-F5344CB8AC3E}">
        <p14:creationId xmlns:p14="http://schemas.microsoft.com/office/powerpoint/2010/main" val="3215802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B2F0-8131-A7AD-6CB5-95552252638B}"/>
              </a:ext>
            </a:extLst>
          </p:cNvPr>
          <p:cNvSpPr>
            <a:spLocks noGrp="1"/>
          </p:cNvSpPr>
          <p:nvPr>
            <p:ph type="title"/>
          </p:nvPr>
        </p:nvSpPr>
        <p:spPr/>
        <p:txBody>
          <a:bodyPr/>
          <a:lstStyle/>
          <a:p>
            <a:r>
              <a:rPr lang="en-AU" dirty="0"/>
              <a:t>Task 6</a:t>
            </a:r>
          </a:p>
        </p:txBody>
      </p:sp>
      <p:sp>
        <p:nvSpPr>
          <p:cNvPr id="3" name="Content Placeholder 2">
            <a:extLst>
              <a:ext uri="{FF2B5EF4-FFF2-40B4-BE49-F238E27FC236}">
                <a16:creationId xmlns:a16="http://schemas.microsoft.com/office/drawing/2014/main" id="{7FCFC430-E8E8-0819-4903-D0C1AECF4B73}"/>
              </a:ext>
            </a:extLst>
          </p:cNvPr>
          <p:cNvSpPr>
            <a:spLocks noGrp="1"/>
          </p:cNvSpPr>
          <p:nvPr>
            <p:ph idx="1"/>
          </p:nvPr>
        </p:nvSpPr>
        <p:spPr/>
        <p:txBody>
          <a:bodyPr/>
          <a:lstStyle/>
          <a:p>
            <a:r>
              <a:rPr lang="en-AU" dirty="0"/>
              <a:t>Create a pandas </a:t>
            </a:r>
            <a:r>
              <a:rPr lang="en-AU" dirty="0" err="1"/>
              <a:t>DataFrame</a:t>
            </a:r>
            <a:r>
              <a:rPr lang="en-AU" dirty="0"/>
              <a:t> from a dictionary</a:t>
            </a:r>
          </a:p>
          <a:p>
            <a:r>
              <a:rPr lang="en-AU" dirty="0"/>
              <a:t>Index into multiple columns using a list</a:t>
            </a:r>
          </a:p>
          <a:p>
            <a:r>
              <a:rPr lang="en-AU" dirty="0"/>
              <a:t>Use .</a:t>
            </a:r>
            <a:r>
              <a:rPr lang="en-AU" dirty="0" err="1"/>
              <a:t>iloc</a:t>
            </a:r>
            <a:r>
              <a:rPr lang="en-AU" dirty="0"/>
              <a:t> to index into specific places or ranges of values</a:t>
            </a:r>
          </a:p>
          <a:p>
            <a:endParaRPr lang="en-AU" dirty="0"/>
          </a:p>
        </p:txBody>
      </p:sp>
    </p:spTree>
    <p:extLst>
      <p:ext uri="{BB962C8B-B14F-4D97-AF65-F5344CB8AC3E}">
        <p14:creationId xmlns:p14="http://schemas.microsoft.com/office/powerpoint/2010/main" val="60912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B54D-47BF-1F67-74DF-BEF0E3A4FD7D}"/>
              </a:ext>
            </a:extLst>
          </p:cNvPr>
          <p:cNvSpPr>
            <a:spLocks noGrp="1"/>
          </p:cNvSpPr>
          <p:nvPr>
            <p:ph type="title"/>
          </p:nvPr>
        </p:nvSpPr>
        <p:spPr/>
        <p:txBody>
          <a:bodyPr/>
          <a:lstStyle/>
          <a:p>
            <a:r>
              <a:rPr lang="en-AU" dirty="0"/>
              <a:t>Pandas behaves very similarly to </a:t>
            </a:r>
            <a:r>
              <a:rPr lang="en-AU" dirty="0" err="1"/>
              <a:t>numpy</a:t>
            </a:r>
            <a:endParaRPr lang="en-AU" dirty="0"/>
          </a:p>
        </p:txBody>
      </p:sp>
      <p:sp>
        <p:nvSpPr>
          <p:cNvPr id="3" name="Content Placeholder 2">
            <a:extLst>
              <a:ext uri="{FF2B5EF4-FFF2-40B4-BE49-F238E27FC236}">
                <a16:creationId xmlns:a16="http://schemas.microsoft.com/office/drawing/2014/main" id="{7001DD9F-D0E9-F606-D12D-185523F9C1B0}"/>
              </a:ext>
            </a:extLst>
          </p:cNvPr>
          <p:cNvSpPr>
            <a:spLocks noGrp="1"/>
          </p:cNvSpPr>
          <p:nvPr>
            <p:ph idx="1"/>
          </p:nvPr>
        </p:nvSpPr>
        <p:spPr/>
        <p:txBody>
          <a:bodyPr/>
          <a:lstStyle/>
          <a:p>
            <a:r>
              <a:rPr lang="en-AU" dirty="0"/>
              <a:t>You can use </a:t>
            </a:r>
            <a:r>
              <a:rPr lang="en-AU" dirty="0" err="1"/>
              <a:t>numpy</a:t>
            </a:r>
            <a:r>
              <a:rPr lang="en-AU" dirty="0"/>
              <a:t> functions on pandas columns</a:t>
            </a:r>
          </a:p>
        </p:txBody>
      </p:sp>
      <p:pic>
        <p:nvPicPr>
          <p:cNvPr id="5" name="Picture 4">
            <a:extLst>
              <a:ext uri="{FF2B5EF4-FFF2-40B4-BE49-F238E27FC236}">
                <a16:creationId xmlns:a16="http://schemas.microsoft.com/office/drawing/2014/main" id="{E857092D-4567-ABAF-C862-1929495DC7DA}"/>
              </a:ext>
            </a:extLst>
          </p:cNvPr>
          <p:cNvPicPr>
            <a:picLocks noChangeAspect="1"/>
          </p:cNvPicPr>
          <p:nvPr/>
        </p:nvPicPr>
        <p:blipFill>
          <a:blip r:embed="rId2"/>
          <a:stretch>
            <a:fillRect/>
          </a:stretch>
        </p:blipFill>
        <p:spPr>
          <a:xfrm>
            <a:off x="1879326" y="2301824"/>
            <a:ext cx="7680949" cy="4457563"/>
          </a:xfrm>
          <a:prstGeom prst="rect">
            <a:avLst/>
          </a:prstGeom>
        </p:spPr>
      </p:pic>
    </p:spTree>
    <p:extLst>
      <p:ext uri="{BB962C8B-B14F-4D97-AF65-F5344CB8AC3E}">
        <p14:creationId xmlns:p14="http://schemas.microsoft.com/office/powerpoint/2010/main" val="1324611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D1CB2-0C5E-5825-5843-1C7E8F410FDA}"/>
              </a:ext>
            </a:extLst>
          </p:cNvPr>
          <p:cNvSpPr>
            <a:spLocks noGrp="1"/>
          </p:cNvSpPr>
          <p:nvPr>
            <p:ph type="title"/>
          </p:nvPr>
        </p:nvSpPr>
        <p:spPr/>
        <p:txBody>
          <a:bodyPr/>
          <a:lstStyle/>
          <a:p>
            <a:r>
              <a:rPr lang="en-AU" dirty="0"/>
              <a:t>You can also mask pandas </a:t>
            </a:r>
            <a:r>
              <a:rPr lang="en-AU" dirty="0" err="1"/>
              <a:t>DataFrames</a:t>
            </a:r>
            <a:endParaRPr lang="en-AU" dirty="0"/>
          </a:p>
        </p:txBody>
      </p:sp>
      <p:pic>
        <p:nvPicPr>
          <p:cNvPr id="7" name="Picture 6">
            <a:extLst>
              <a:ext uri="{FF2B5EF4-FFF2-40B4-BE49-F238E27FC236}">
                <a16:creationId xmlns:a16="http://schemas.microsoft.com/office/drawing/2014/main" id="{8676133C-CF46-582C-6B81-EB919E572EBD}"/>
              </a:ext>
            </a:extLst>
          </p:cNvPr>
          <p:cNvPicPr>
            <a:picLocks noChangeAspect="1"/>
          </p:cNvPicPr>
          <p:nvPr/>
        </p:nvPicPr>
        <p:blipFill>
          <a:blip r:embed="rId2"/>
          <a:stretch>
            <a:fillRect/>
          </a:stretch>
        </p:blipFill>
        <p:spPr>
          <a:xfrm>
            <a:off x="1735668" y="1289217"/>
            <a:ext cx="7374466" cy="5568783"/>
          </a:xfrm>
          <a:prstGeom prst="rect">
            <a:avLst/>
          </a:prstGeom>
        </p:spPr>
      </p:pic>
    </p:spTree>
    <p:extLst>
      <p:ext uri="{BB962C8B-B14F-4D97-AF65-F5344CB8AC3E}">
        <p14:creationId xmlns:p14="http://schemas.microsoft.com/office/powerpoint/2010/main" val="1402766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D1CB2-0C5E-5825-5843-1C7E8F410FDA}"/>
              </a:ext>
            </a:extLst>
          </p:cNvPr>
          <p:cNvSpPr>
            <a:spLocks noGrp="1"/>
          </p:cNvSpPr>
          <p:nvPr>
            <p:ph type="title"/>
          </p:nvPr>
        </p:nvSpPr>
        <p:spPr/>
        <p:txBody>
          <a:bodyPr/>
          <a:lstStyle/>
          <a:p>
            <a:r>
              <a:rPr lang="en-AU" dirty="0"/>
              <a:t>You can also mask pandas </a:t>
            </a:r>
            <a:r>
              <a:rPr lang="en-AU" dirty="0" err="1"/>
              <a:t>DataFrames</a:t>
            </a:r>
            <a:endParaRPr lang="en-AU" dirty="0"/>
          </a:p>
        </p:txBody>
      </p:sp>
      <p:pic>
        <p:nvPicPr>
          <p:cNvPr id="5" name="Picture 4">
            <a:extLst>
              <a:ext uri="{FF2B5EF4-FFF2-40B4-BE49-F238E27FC236}">
                <a16:creationId xmlns:a16="http://schemas.microsoft.com/office/drawing/2014/main" id="{C0512AD4-5632-556A-871B-75DD9BFF8F85}"/>
              </a:ext>
            </a:extLst>
          </p:cNvPr>
          <p:cNvPicPr>
            <a:picLocks noChangeAspect="1"/>
          </p:cNvPicPr>
          <p:nvPr/>
        </p:nvPicPr>
        <p:blipFill>
          <a:blip r:embed="rId2"/>
          <a:stretch>
            <a:fillRect/>
          </a:stretch>
        </p:blipFill>
        <p:spPr>
          <a:xfrm>
            <a:off x="1617726" y="1803343"/>
            <a:ext cx="7618809" cy="4689532"/>
          </a:xfrm>
          <a:prstGeom prst="rect">
            <a:avLst/>
          </a:prstGeom>
        </p:spPr>
      </p:pic>
    </p:spTree>
    <p:extLst>
      <p:ext uri="{BB962C8B-B14F-4D97-AF65-F5344CB8AC3E}">
        <p14:creationId xmlns:p14="http://schemas.microsoft.com/office/powerpoint/2010/main" val="13681253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9239-6210-48CA-927B-D42B02B1F50A}"/>
              </a:ext>
            </a:extLst>
          </p:cNvPr>
          <p:cNvSpPr>
            <a:spLocks noGrp="1"/>
          </p:cNvSpPr>
          <p:nvPr>
            <p:ph type="title"/>
          </p:nvPr>
        </p:nvSpPr>
        <p:spPr/>
        <p:txBody>
          <a:bodyPr/>
          <a:lstStyle/>
          <a:p>
            <a:r>
              <a:rPr lang="en-AU" dirty="0"/>
              <a:t>Task 7	</a:t>
            </a:r>
          </a:p>
        </p:txBody>
      </p:sp>
      <p:sp>
        <p:nvSpPr>
          <p:cNvPr id="3" name="Content Placeholder 2">
            <a:extLst>
              <a:ext uri="{FF2B5EF4-FFF2-40B4-BE49-F238E27FC236}">
                <a16:creationId xmlns:a16="http://schemas.microsoft.com/office/drawing/2014/main" id="{DAA5C099-890F-1CF1-9769-606FF0B7580D}"/>
              </a:ext>
            </a:extLst>
          </p:cNvPr>
          <p:cNvSpPr>
            <a:spLocks noGrp="1"/>
          </p:cNvSpPr>
          <p:nvPr>
            <p:ph idx="1"/>
          </p:nvPr>
        </p:nvSpPr>
        <p:spPr/>
        <p:txBody>
          <a:bodyPr/>
          <a:lstStyle/>
          <a:p>
            <a:r>
              <a:rPr lang="en-AU" dirty="0"/>
              <a:t>Try masking your </a:t>
            </a:r>
            <a:r>
              <a:rPr lang="en-AU" dirty="0" err="1"/>
              <a:t>DataFrame</a:t>
            </a:r>
            <a:endParaRPr lang="en-AU" dirty="0"/>
          </a:p>
        </p:txBody>
      </p:sp>
    </p:spTree>
    <p:extLst>
      <p:ext uri="{BB962C8B-B14F-4D97-AF65-F5344CB8AC3E}">
        <p14:creationId xmlns:p14="http://schemas.microsoft.com/office/powerpoint/2010/main" val="14645292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746A-9902-1C0D-AC11-B3CDB1556B91}"/>
              </a:ext>
            </a:extLst>
          </p:cNvPr>
          <p:cNvSpPr>
            <a:spLocks noGrp="1"/>
          </p:cNvSpPr>
          <p:nvPr>
            <p:ph type="title"/>
          </p:nvPr>
        </p:nvSpPr>
        <p:spPr/>
        <p:txBody>
          <a:bodyPr/>
          <a:lstStyle/>
          <a:p>
            <a:r>
              <a:rPr lang="en-AU" dirty="0"/>
              <a:t>Reading a CSV file with pandas</a:t>
            </a:r>
          </a:p>
        </p:txBody>
      </p:sp>
      <p:sp>
        <p:nvSpPr>
          <p:cNvPr id="3" name="Content Placeholder 2">
            <a:extLst>
              <a:ext uri="{FF2B5EF4-FFF2-40B4-BE49-F238E27FC236}">
                <a16:creationId xmlns:a16="http://schemas.microsoft.com/office/drawing/2014/main" id="{89EA3DDA-4A97-2828-9FAF-93E6E2755EF8}"/>
              </a:ext>
            </a:extLst>
          </p:cNvPr>
          <p:cNvSpPr>
            <a:spLocks noGrp="1"/>
          </p:cNvSpPr>
          <p:nvPr>
            <p:ph idx="1"/>
          </p:nvPr>
        </p:nvSpPr>
        <p:spPr/>
        <p:txBody>
          <a:bodyPr/>
          <a:lstStyle/>
          <a:p>
            <a:r>
              <a:rPr lang="en-AU" dirty="0"/>
              <a:t>Most data will be distributed as csv (sometimes excel)</a:t>
            </a:r>
          </a:p>
          <a:p>
            <a:r>
              <a:rPr lang="en-AU" dirty="0"/>
              <a:t>If it’s in excel you will have to pip install an extra package (it will tell you which one when you try to open the excel file in pandas)</a:t>
            </a:r>
          </a:p>
        </p:txBody>
      </p:sp>
    </p:spTree>
    <p:extLst>
      <p:ext uri="{BB962C8B-B14F-4D97-AF65-F5344CB8AC3E}">
        <p14:creationId xmlns:p14="http://schemas.microsoft.com/office/powerpoint/2010/main" val="4015065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6746A-9902-1C0D-AC11-B3CDB1556B91}"/>
              </a:ext>
            </a:extLst>
          </p:cNvPr>
          <p:cNvSpPr>
            <a:spLocks noGrp="1"/>
          </p:cNvSpPr>
          <p:nvPr>
            <p:ph type="title"/>
          </p:nvPr>
        </p:nvSpPr>
        <p:spPr/>
        <p:txBody>
          <a:bodyPr/>
          <a:lstStyle/>
          <a:p>
            <a:r>
              <a:rPr lang="en-AU" dirty="0"/>
              <a:t>Reading a CSV file with pandas</a:t>
            </a:r>
          </a:p>
        </p:txBody>
      </p:sp>
      <p:sp>
        <p:nvSpPr>
          <p:cNvPr id="3" name="Content Placeholder 2">
            <a:extLst>
              <a:ext uri="{FF2B5EF4-FFF2-40B4-BE49-F238E27FC236}">
                <a16:creationId xmlns:a16="http://schemas.microsoft.com/office/drawing/2014/main" id="{89EA3DDA-4A97-2828-9FAF-93E6E2755EF8}"/>
              </a:ext>
            </a:extLst>
          </p:cNvPr>
          <p:cNvSpPr>
            <a:spLocks noGrp="1"/>
          </p:cNvSpPr>
          <p:nvPr>
            <p:ph idx="1"/>
          </p:nvPr>
        </p:nvSpPr>
        <p:spPr/>
        <p:txBody>
          <a:bodyPr/>
          <a:lstStyle/>
          <a:p>
            <a:r>
              <a:rPr lang="en-AU" dirty="0"/>
              <a:t>The command to open a csv file is </a:t>
            </a:r>
            <a:r>
              <a:rPr lang="en-AU" dirty="0" err="1"/>
              <a:t>pd.read_csv</a:t>
            </a:r>
            <a:r>
              <a:rPr lang="en-AU" dirty="0"/>
              <a:t>()</a:t>
            </a:r>
          </a:p>
        </p:txBody>
      </p:sp>
      <p:pic>
        <p:nvPicPr>
          <p:cNvPr id="5" name="Picture 4">
            <a:extLst>
              <a:ext uri="{FF2B5EF4-FFF2-40B4-BE49-F238E27FC236}">
                <a16:creationId xmlns:a16="http://schemas.microsoft.com/office/drawing/2014/main" id="{A267CFFA-CACF-B40D-C305-F3C89201C621}"/>
              </a:ext>
            </a:extLst>
          </p:cNvPr>
          <p:cNvPicPr>
            <a:picLocks noChangeAspect="1"/>
          </p:cNvPicPr>
          <p:nvPr/>
        </p:nvPicPr>
        <p:blipFill>
          <a:blip r:embed="rId2"/>
          <a:stretch>
            <a:fillRect/>
          </a:stretch>
        </p:blipFill>
        <p:spPr>
          <a:xfrm>
            <a:off x="1262550" y="2327691"/>
            <a:ext cx="9087310" cy="4467555"/>
          </a:xfrm>
          <a:prstGeom prst="rect">
            <a:avLst/>
          </a:prstGeom>
        </p:spPr>
      </p:pic>
    </p:spTree>
    <p:extLst>
      <p:ext uri="{BB962C8B-B14F-4D97-AF65-F5344CB8AC3E}">
        <p14:creationId xmlns:p14="http://schemas.microsoft.com/office/powerpoint/2010/main" val="1103552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B7064-E190-3238-CA2C-0E8114422AEE}"/>
              </a:ext>
            </a:extLst>
          </p:cNvPr>
          <p:cNvSpPr>
            <a:spLocks noGrp="1"/>
          </p:cNvSpPr>
          <p:nvPr>
            <p:ph type="title"/>
          </p:nvPr>
        </p:nvSpPr>
        <p:spPr/>
        <p:txBody>
          <a:bodyPr/>
          <a:lstStyle/>
          <a:p>
            <a:r>
              <a:rPr lang="en-AU" dirty="0"/>
              <a:t>Task 8</a:t>
            </a:r>
          </a:p>
        </p:txBody>
      </p:sp>
      <p:sp>
        <p:nvSpPr>
          <p:cNvPr id="3" name="Content Placeholder 2">
            <a:extLst>
              <a:ext uri="{FF2B5EF4-FFF2-40B4-BE49-F238E27FC236}">
                <a16:creationId xmlns:a16="http://schemas.microsoft.com/office/drawing/2014/main" id="{E67D1FA0-4D91-0DBC-D7D4-5E8555F5326A}"/>
              </a:ext>
            </a:extLst>
          </p:cNvPr>
          <p:cNvSpPr>
            <a:spLocks noGrp="1"/>
          </p:cNvSpPr>
          <p:nvPr>
            <p:ph idx="1"/>
          </p:nvPr>
        </p:nvSpPr>
        <p:spPr/>
        <p:txBody>
          <a:bodyPr/>
          <a:lstStyle/>
          <a:p>
            <a:r>
              <a:rPr lang="en-AU" dirty="0"/>
              <a:t>Use </a:t>
            </a:r>
            <a:r>
              <a:rPr lang="en-AU" dirty="0" err="1"/>
              <a:t>read_csv</a:t>
            </a:r>
            <a:r>
              <a:rPr lang="en-AU" dirty="0"/>
              <a:t> to open the file I sent you</a:t>
            </a:r>
          </a:p>
        </p:txBody>
      </p:sp>
    </p:spTree>
    <p:extLst>
      <p:ext uri="{BB962C8B-B14F-4D97-AF65-F5344CB8AC3E}">
        <p14:creationId xmlns:p14="http://schemas.microsoft.com/office/powerpoint/2010/main" val="25426487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8D772-EDCC-83A9-F8D7-B80E299D1DEC}"/>
              </a:ext>
            </a:extLst>
          </p:cNvPr>
          <p:cNvSpPr>
            <a:spLocks noGrp="1"/>
          </p:cNvSpPr>
          <p:nvPr>
            <p:ph type="title"/>
          </p:nvPr>
        </p:nvSpPr>
        <p:spPr/>
        <p:txBody>
          <a:bodyPr/>
          <a:lstStyle/>
          <a:p>
            <a:r>
              <a:rPr lang="en-AU" dirty="0"/>
              <a:t>Data Cleaning</a:t>
            </a:r>
          </a:p>
        </p:txBody>
      </p:sp>
      <p:sp>
        <p:nvSpPr>
          <p:cNvPr id="3" name="Content Placeholder 2">
            <a:extLst>
              <a:ext uri="{FF2B5EF4-FFF2-40B4-BE49-F238E27FC236}">
                <a16:creationId xmlns:a16="http://schemas.microsoft.com/office/drawing/2014/main" id="{AC38D388-04E8-A344-7452-209FA90A3FBE}"/>
              </a:ext>
            </a:extLst>
          </p:cNvPr>
          <p:cNvSpPr>
            <a:spLocks noGrp="1"/>
          </p:cNvSpPr>
          <p:nvPr>
            <p:ph idx="1"/>
          </p:nvPr>
        </p:nvSpPr>
        <p:spPr/>
        <p:txBody>
          <a:bodyPr/>
          <a:lstStyle/>
          <a:p>
            <a:r>
              <a:rPr lang="en-AU" dirty="0"/>
              <a:t>Let’s index into the Quality Column</a:t>
            </a:r>
          </a:p>
        </p:txBody>
      </p:sp>
      <p:pic>
        <p:nvPicPr>
          <p:cNvPr id="5" name="Picture 4">
            <a:extLst>
              <a:ext uri="{FF2B5EF4-FFF2-40B4-BE49-F238E27FC236}">
                <a16:creationId xmlns:a16="http://schemas.microsoft.com/office/drawing/2014/main" id="{8C737FF8-9948-343B-5633-724BCB01EBC1}"/>
              </a:ext>
            </a:extLst>
          </p:cNvPr>
          <p:cNvPicPr>
            <a:picLocks noChangeAspect="1"/>
          </p:cNvPicPr>
          <p:nvPr/>
        </p:nvPicPr>
        <p:blipFill>
          <a:blip r:embed="rId2"/>
          <a:stretch>
            <a:fillRect/>
          </a:stretch>
        </p:blipFill>
        <p:spPr>
          <a:xfrm>
            <a:off x="2004802" y="2520933"/>
            <a:ext cx="7819136" cy="4229491"/>
          </a:xfrm>
          <a:prstGeom prst="rect">
            <a:avLst/>
          </a:prstGeom>
        </p:spPr>
      </p:pic>
    </p:spTree>
    <p:extLst>
      <p:ext uri="{BB962C8B-B14F-4D97-AF65-F5344CB8AC3E}">
        <p14:creationId xmlns:p14="http://schemas.microsoft.com/office/powerpoint/2010/main" val="34693011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8D772-EDCC-83A9-F8D7-B80E299D1DEC}"/>
              </a:ext>
            </a:extLst>
          </p:cNvPr>
          <p:cNvSpPr>
            <a:spLocks noGrp="1"/>
          </p:cNvSpPr>
          <p:nvPr>
            <p:ph type="title"/>
          </p:nvPr>
        </p:nvSpPr>
        <p:spPr/>
        <p:txBody>
          <a:bodyPr/>
          <a:lstStyle/>
          <a:p>
            <a:r>
              <a:rPr lang="en-AU" dirty="0"/>
              <a:t>Data Cleaning</a:t>
            </a:r>
          </a:p>
        </p:txBody>
      </p:sp>
      <p:sp>
        <p:nvSpPr>
          <p:cNvPr id="3" name="Content Placeholder 2">
            <a:extLst>
              <a:ext uri="{FF2B5EF4-FFF2-40B4-BE49-F238E27FC236}">
                <a16:creationId xmlns:a16="http://schemas.microsoft.com/office/drawing/2014/main" id="{AC38D388-04E8-A344-7452-209FA90A3FBE}"/>
              </a:ext>
            </a:extLst>
          </p:cNvPr>
          <p:cNvSpPr>
            <a:spLocks noGrp="1"/>
          </p:cNvSpPr>
          <p:nvPr>
            <p:ph idx="1"/>
          </p:nvPr>
        </p:nvSpPr>
        <p:spPr/>
        <p:txBody>
          <a:bodyPr/>
          <a:lstStyle/>
          <a:p>
            <a:r>
              <a:rPr lang="en-AU" dirty="0"/>
              <a:t>It’s more useful to see the unique values</a:t>
            </a:r>
          </a:p>
        </p:txBody>
      </p:sp>
      <p:pic>
        <p:nvPicPr>
          <p:cNvPr id="6" name="Picture 5">
            <a:extLst>
              <a:ext uri="{FF2B5EF4-FFF2-40B4-BE49-F238E27FC236}">
                <a16:creationId xmlns:a16="http://schemas.microsoft.com/office/drawing/2014/main" id="{98141298-627F-A164-D8EC-C528D24F42CE}"/>
              </a:ext>
            </a:extLst>
          </p:cNvPr>
          <p:cNvPicPr>
            <a:picLocks noChangeAspect="1"/>
          </p:cNvPicPr>
          <p:nvPr/>
        </p:nvPicPr>
        <p:blipFill>
          <a:blip r:embed="rId2"/>
          <a:stretch>
            <a:fillRect/>
          </a:stretch>
        </p:blipFill>
        <p:spPr>
          <a:xfrm>
            <a:off x="1562825" y="3015486"/>
            <a:ext cx="9066349" cy="2703997"/>
          </a:xfrm>
          <a:prstGeom prst="rect">
            <a:avLst/>
          </a:prstGeom>
        </p:spPr>
      </p:pic>
    </p:spTree>
    <p:extLst>
      <p:ext uri="{BB962C8B-B14F-4D97-AF65-F5344CB8AC3E}">
        <p14:creationId xmlns:p14="http://schemas.microsoft.com/office/powerpoint/2010/main" val="5803634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8D772-EDCC-83A9-F8D7-B80E299D1DEC}"/>
              </a:ext>
            </a:extLst>
          </p:cNvPr>
          <p:cNvSpPr>
            <a:spLocks noGrp="1"/>
          </p:cNvSpPr>
          <p:nvPr>
            <p:ph type="title"/>
          </p:nvPr>
        </p:nvSpPr>
        <p:spPr/>
        <p:txBody>
          <a:bodyPr/>
          <a:lstStyle/>
          <a:p>
            <a:r>
              <a:rPr lang="en-AU" dirty="0"/>
              <a:t>Data Cleaning</a:t>
            </a:r>
          </a:p>
        </p:txBody>
      </p:sp>
      <p:sp>
        <p:nvSpPr>
          <p:cNvPr id="3" name="Content Placeholder 2">
            <a:extLst>
              <a:ext uri="{FF2B5EF4-FFF2-40B4-BE49-F238E27FC236}">
                <a16:creationId xmlns:a16="http://schemas.microsoft.com/office/drawing/2014/main" id="{AC38D388-04E8-A344-7452-209FA90A3FBE}"/>
              </a:ext>
            </a:extLst>
          </p:cNvPr>
          <p:cNvSpPr>
            <a:spLocks noGrp="1"/>
          </p:cNvSpPr>
          <p:nvPr>
            <p:ph idx="1"/>
          </p:nvPr>
        </p:nvSpPr>
        <p:spPr/>
        <p:txBody>
          <a:bodyPr/>
          <a:lstStyle/>
          <a:p>
            <a:r>
              <a:rPr lang="en-AU" dirty="0"/>
              <a:t>We can also see the total counts of each value though this ignores nans</a:t>
            </a:r>
          </a:p>
        </p:txBody>
      </p:sp>
      <p:pic>
        <p:nvPicPr>
          <p:cNvPr id="5" name="Picture 4">
            <a:extLst>
              <a:ext uri="{FF2B5EF4-FFF2-40B4-BE49-F238E27FC236}">
                <a16:creationId xmlns:a16="http://schemas.microsoft.com/office/drawing/2014/main" id="{4BDBCCF7-384F-2B6B-BFA4-E92B75C50309}"/>
              </a:ext>
            </a:extLst>
          </p:cNvPr>
          <p:cNvPicPr>
            <a:picLocks noChangeAspect="1"/>
          </p:cNvPicPr>
          <p:nvPr/>
        </p:nvPicPr>
        <p:blipFill>
          <a:blip r:embed="rId2"/>
          <a:stretch>
            <a:fillRect/>
          </a:stretch>
        </p:blipFill>
        <p:spPr>
          <a:xfrm>
            <a:off x="2036181" y="2760109"/>
            <a:ext cx="8639580" cy="3937024"/>
          </a:xfrm>
          <a:prstGeom prst="rect">
            <a:avLst/>
          </a:prstGeom>
        </p:spPr>
      </p:pic>
    </p:spTree>
    <p:extLst>
      <p:ext uri="{BB962C8B-B14F-4D97-AF65-F5344CB8AC3E}">
        <p14:creationId xmlns:p14="http://schemas.microsoft.com/office/powerpoint/2010/main" val="38865405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A7648-B8C4-0DAF-57FE-67D48D986356}"/>
              </a:ext>
            </a:extLst>
          </p:cNvPr>
          <p:cNvSpPr>
            <a:spLocks noGrp="1"/>
          </p:cNvSpPr>
          <p:nvPr>
            <p:ph type="title"/>
          </p:nvPr>
        </p:nvSpPr>
        <p:spPr/>
        <p:txBody>
          <a:bodyPr/>
          <a:lstStyle/>
          <a:p>
            <a:r>
              <a:rPr lang="en-AU" dirty="0"/>
              <a:t>We can use masking to clean our dataset</a:t>
            </a:r>
          </a:p>
        </p:txBody>
      </p:sp>
      <p:pic>
        <p:nvPicPr>
          <p:cNvPr id="5" name="Content Placeholder 4">
            <a:extLst>
              <a:ext uri="{FF2B5EF4-FFF2-40B4-BE49-F238E27FC236}">
                <a16:creationId xmlns:a16="http://schemas.microsoft.com/office/drawing/2014/main" id="{C454897D-8B3E-8888-2ADF-1538C3BBB56B}"/>
              </a:ext>
            </a:extLst>
          </p:cNvPr>
          <p:cNvPicPr>
            <a:picLocks noGrp="1" noChangeAspect="1"/>
          </p:cNvPicPr>
          <p:nvPr>
            <p:ph idx="1"/>
          </p:nvPr>
        </p:nvPicPr>
        <p:blipFill>
          <a:blip r:embed="rId2"/>
          <a:stretch>
            <a:fillRect/>
          </a:stretch>
        </p:blipFill>
        <p:spPr>
          <a:xfrm>
            <a:off x="1492576" y="3017066"/>
            <a:ext cx="10588709" cy="3086396"/>
          </a:xfrm>
        </p:spPr>
      </p:pic>
    </p:spTree>
    <p:extLst>
      <p:ext uri="{BB962C8B-B14F-4D97-AF65-F5344CB8AC3E}">
        <p14:creationId xmlns:p14="http://schemas.microsoft.com/office/powerpoint/2010/main" val="29152910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9376E-0DA8-90F1-601A-067A162820C7}"/>
              </a:ext>
            </a:extLst>
          </p:cNvPr>
          <p:cNvSpPr>
            <a:spLocks noGrp="1"/>
          </p:cNvSpPr>
          <p:nvPr>
            <p:ph type="title"/>
          </p:nvPr>
        </p:nvSpPr>
        <p:spPr/>
        <p:txBody>
          <a:bodyPr/>
          <a:lstStyle/>
          <a:p>
            <a:r>
              <a:rPr lang="en-AU" dirty="0"/>
              <a:t>Task 9</a:t>
            </a:r>
          </a:p>
        </p:txBody>
      </p:sp>
      <p:sp>
        <p:nvSpPr>
          <p:cNvPr id="3" name="Content Placeholder 2">
            <a:extLst>
              <a:ext uri="{FF2B5EF4-FFF2-40B4-BE49-F238E27FC236}">
                <a16:creationId xmlns:a16="http://schemas.microsoft.com/office/drawing/2014/main" id="{CB03D14B-70EA-4958-6566-17C5F5F69439}"/>
              </a:ext>
            </a:extLst>
          </p:cNvPr>
          <p:cNvSpPr>
            <a:spLocks noGrp="1"/>
          </p:cNvSpPr>
          <p:nvPr>
            <p:ph idx="1"/>
          </p:nvPr>
        </p:nvSpPr>
        <p:spPr/>
        <p:txBody>
          <a:bodyPr/>
          <a:lstStyle/>
          <a:p>
            <a:r>
              <a:rPr lang="en-AU" dirty="0"/>
              <a:t>Use masking to keep only rows where Quality is equal to ‘Y’</a:t>
            </a:r>
          </a:p>
        </p:txBody>
      </p:sp>
    </p:spTree>
    <p:extLst>
      <p:ext uri="{BB962C8B-B14F-4D97-AF65-F5344CB8AC3E}">
        <p14:creationId xmlns:p14="http://schemas.microsoft.com/office/powerpoint/2010/main" val="922880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637ED-42FF-235E-AE16-9A1C7FD7A91E}"/>
              </a:ext>
            </a:extLst>
          </p:cNvPr>
          <p:cNvSpPr>
            <a:spLocks noGrp="1"/>
          </p:cNvSpPr>
          <p:nvPr>
            <p:ph type="title"/>
          </p:nvPr>
        </p:nvSpPr>
        <p:spPr/>
        <p:txBody>
          <a:bodyPr/>
          <a:lstStyle/>
          <a:p>
            <a:r>
              <a:rPr lang="en-AU" dirty="0" err="1"/>
              <a:t>Groupby</a:t>
            </a:r>
            <a:r>
              <a:rPr lang="en-AU" dirty="0"/>
              <a:t> in pandas allows you to cluster your data based on a chosen column</a:t>
            </a:r>
          </a:p>
        </p:txBody>
      </p:sp>
      <p:pic>
        <p:nvPicPr>
          <p:cNvPr id="5" name="Picture 4">
            <a:extLst>
              <a:ext uri="{FF2B5EF4-FFF2-40B4-BE49-F238E27FC236}">
                <a16:creationId xmlns:a16="http://schemas.microsoft.com/office/drawing/2014/main" id="{D889CB3E-2B23-7566-77E4-4B5042D146C9}"/>
              </a:ext>
            </a:extLst>
          </p:cNvPr>
          <p:cNvPicPr>
            <a:picLocks noChangeAspect="1"/>
          </p:cNvPicPr>
          <p:nvPr/>
        </p:nvPicPr>
        <p:blipFill>
          <a:blip r:embed="rId2"/>
          <a:stretch>
            <a:fillRect/>
          </a:stretch>
        </p:blipFill>
        <p:spPr>
          <a:xfrm>
            <a:off x="927300" y="1919134"/>
            <a:ext cx="10337400" cy="4573741"/>
          </a:xfrm>
          <a:prstGeom prst="rect">
            <a:avLst/>
          </a:prstGeom>
        </p:spPr>
      </p:pic>
    </p:spTree>
    <p:extLst>
      <p:ext uri="{BB962C8B-B14F-4D97-AF65-F5344CB8AC3E}">
        <p14:creationId xmlns:p14="http://schemas.microsoft.com/office/powerpoint/2010/main" val="3863336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B9E39-2EAB-5E81-701F-4219F42F1B83}"/>
              </a:ext>
            </a:extLst>
          </p:cNvPr>
          <p:cNvSpPr>
            <a:spLocks noGrp="1"/>
          </p:cNvSpPr>
          <p:nvPr>
            <p:ph type="title"/>
          </p:nvPr>
        </p:nvSpPr>
        <p:spPr/>
        <p:txBody>
          <a:bodyPr/>
          <a:lstStyle/>
          <a:p>
            <a:r>
              <a:rPr lang="en-AU" dirty="0"/>
              <a:t>In the returned clustered </a:t>
            </a:r>
            <a:r>
              <a:rPr lang="en-AU" dirty="0" err="1"/>
              <a:t>DataFrame</a:t>
            </a:r>
            <a:r>
              <a:rPr lang="en-AU" dirty="0"/>
              <a:t> the value you chose to cluster on is the index</a:t>
            </a:r>
          </a:p>
        </p:txBody>
      </p:sp>
      <p:pic>
        <p:nvPicPr>
          <p:cNvPr id="5" name="Picture 4">
            <a:extLst>
              <a:ext uri="{FF2B5EF4-FFF2-40B4-BE49-F238E27FC236}">
                <a16:creationId xmlns:a16="http://schemas.microsoft.com/office/drawing/2014/main" id="{6D13224E-8268-F9AB-195F-09EDC77B0671}"/>
              </a:ext>
            </a:extLst>
          </p:cNvPr>
          <p:cNvPicPr>
            <a:picLocks noChangeAspect="1"/>
          </p:cNvPicPr>
          <p:nvPr/>
        </p:nvPicPr>
        <p:blipFill>
          <a:blip r:embed="rId2"/>
          <a:stretch>
            <a:fillRect/>
          </a:stretch>
        </p:blipFill>
        <p:spPr>
          <a:xfrm>
            <a:off x="1013636" y="2173523"/>
            <a:ext cx="10487823" cy="3841795"/>
          </a:xfrm>
          <a:prstGeom prst="rect">
            <a:avLst/>
          </a:prstGeom>
        </p:spPr>
      </p:pic>
    </p:spTree>
    <p:extLst>
      <p:ext uri="{BB962C8B-B14F-4D97-AF65-F5344CB8AC3E}">
        <p14:creationId xmlns:p14="http://schemas.microsoft.com/office/powerpoint/2010/main" val="2846210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6E34E-5106-9781-5839-90045A1DF91B}"/>
              </a:ext>
            </a:extLst>
          </p:cNvPr>
          <p:cNvSpPr>
            <a:spLocks noGrp="1"/>
          </p:cNvSpPr>
          <p:nvPr>
            <p:ph type="title"/>
          </p:nvPr>
        </p:nvSpPr>
        <p:spPr/>
        <p:txBody>
          <a:bodyPr/>
          <a:lstStyle/>
          <a:p>
            <a:r>
              <a:rPr lang="en-AU" dirty="0"/>
              <a:t>Task 10</a:t>
            </a:r>
          </a:p>
        </p:txBody>
      </p:sp>
      <p:sp>
        <p:nvSpPr>
          <p:cNvPr id="3" name="Content Placeholder 2">
            <a:extLst>
              <a:ext uri="{FF2B5EF4-FFF2-40B4-BE49-F238E27FC236}">
                <a16:creationId xmlns:a16="http://schemas.microsoft.com/office/drawing/2014/main" id="{A889584D-E140-E44F-50F9-59A5C7E9C3AA}"/>
              </a:ext>
            </a:extLst>
          </p:cNvPr>
          <p:cNvSpPr>
            <a:spLocks noGrp="1"/>
          </p:cNvSpPr>
          <p:nvPr>
            <p:ph idx="1"/>
          </p:nvPr>
        </p:nvSpPr>
        <p:spPr/>
        <p:txBody>
          <a:bodyPr/>
          <a:lstStyle/>
          <a:p>
            <a:r>
              <a:rPr lang="en-AU" dirty="0"/>
              <a:t>Print the mean temperature per year using </a:t>
            </a:r>
            <a:r>
              <a:rPr lang="en-AU" dirty="0" err="1"/>
              <a:t>groupby</a:t>
            </a:r>
            <a:endParaRPr lang="en-AU" dirty="0"/>
          </a:p>
        </p:txBody>
      </p:sp>
    </p:spTree>
    <p:extLst>
      <p:ext uri="{BB962C8B-B14F-4D97-AF65-F5344CB8AC3E}">
        <p14:creationId xmlns:p14="http://schemas.microsoft.com/office/powerpoint/2010/main" val="646806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7502E-77C8-27F1-24FE-0FBDB88960E0}"/>
              </a:ext>
            </a:extLst>
          </p:cNvPr>
          <p:cNvSpPr>
            <a:spLocks noGrp="1"/>
          </p:cNvSpPr>
          <p:nvPr>
            <p:ph type="title"/>
          </p:nvPr>
        </p:nvSpPr>
        <p:spPr/>
        <p:txBody>
          <a:bodyPr/>
          <a:lstStyle/>
          <a:p>
            <a:r>
              <a:rPr lang="en-AU" dirty="0"/>
              <a:t>Plotting with matplotlib and seaborn</a:t>
            </a:r>
          </a:p>
        </p:txBody>
      </p:sp>
    </p:spTree>
    <p:extLst>
      <p:ext uri="{BB962C8B-B14F-4D97-AF65-F5344CB8AC3E}">
        <p14:creationId xmlns:p14="http://schemas.microsoft.com/office/powerpoint/2010/main" val="8904261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0C4E9-C530-7967-46F5-D72A7C89BDFF}"/>
              </a:ext>
            </a:extLst>
          </p:cNvPr>
          <p:cNvSpPr>
            <a:spLocks noGrp="1"/>
          </p:cNvSpPr>
          <p:nvPr>
            <p:ph type="title"/>
          </p:nvPr>
        </p:nvSpPr>
        <p:spPr/>
        <p:txBody>
          <a:bodyPr/>
          <a:lstStyle/>
          <a:p>
            <a:r>
              <a:rPr lang="en-AU" dirty="0"/>
              <a:t>Matplotlib is the most popular plotting library in python</a:t>
            </a:r>
          </a:p>
        </p:txBody>
      </p:sp>
      <p:sp>
        <p:nvSpPr>
          <p:cNvPr id="3" name="Content Placeholder 2">
            <a:extLst>
              <a:ext uri="{FF2B5EF4-FFF2-40B4-BE49-F238E27FC236}">
                <a16:creationId xmlns:a16="http://schemas.microsoft.com/office/drawing/2014/main" id="{FCC8BB7B-3F9A-1F7D-FB6E-94B96DBC65C4}"/>
              </a:ext>
            </a:extLst>
          </p:cNvPr>
          <p:cNvSpPr>
            <a:spLocks noGrp="1"/>
          </p:cNvSpPr>
          <p:nvPr>
            <p:ph idx="1"/>
          </p:nvPr>
        </p:nvSpPr>
        <p:spPr/>
        <p:txBody>
          <a:bodyPr/>
          <a:lstStyle/>
          <a:p>
            <a:r>
              <a:rPr lang="en-AU" dirty="0"/>
              <a:t>Creates </a:t>
            </a:r>
            <a:r>
              <a:rPr lang="en-AU" dirty="0" err="1"/>
              <a:t>Matlab</a:t>
            </a:r>
            <a:r>
              <a:rPr lang="en-AU" dirty="0"/>
              <a:t> like plots</a:t>
            </a:r>
          </a:p>
          <a:p>
            <a:r>
              <a:rPr lang="en-AU" dirty="0"/>
              <a:t>Can be confusing as there are multiple ways of creating the same plot</a:t>
            </a:r>
          </a:p>
        </p:txBody>
      </p:sp>
      <p:pic>
        <p:nvPicPr>
          <p:cNvPr id="5" name="Picture 4">
            <a:extLst>
              <a:ext uri="{FF2B5EF4-FFF2-40B4-BE49-F238E27FC236}">
                <a16:creationId xmlns:a16="http://schemas.microsoft.com/office/drawing/2014/main" id="{3F047BCB-92BA-7660-F9E7-1A61640E7158}"/>
              </a:ext>
            </a:extLst>
          </p:cNvPr>
          <p:cNvPicPr>
            <a:picLocks noChangeAspect="1"/>
          </p:cNvPicPr>
          <p:nvPr/>
        </p:nvPicPr>
        <p:blipFill>
          <a:blip r:embed="rId2"/>
          <a:stretch>
            <a:fillRect/>
          </a:stretch>
        </p:blipFill>
        <p:spPr>
          <a:xfrm>
            <a:off x="995082" y="2997766"/>
            <a:ext cx="4703059" cy="3709455"/>
          </a:xfrm>
          <a:prstGeom prst="rect">
            <a:avLst/>
          </a:prstGeom>
        </p:spPr>
      </p:pic>
      <p:pic>
        <p:nvPicPr>
          <p:cNvPr id="7" name="Picture 6">
            <a:extLst>
              <a:ext uri="{FF2B5EF4-FFF2-40B4-BE49-F238E27FC236}">
                <a16:creationId xmlns:a16="http://schemas.microsoft.com/office/drawing/2014/main" id="{8D8A0740-969F-DDFB-D806-BDFE57A4546C}"/>
              </a:ext>
            </a:extLst>
          </p:cNvPr>
          <p:cNvPicPr>
            <a:picLocks noChangeAspect="1"/>
          </p:cNvPicPr>
          <p:nvPr/>
        </p:nvPicPr>
        <p:blipFill>
          <a:blip r:embed="rId3"/>
          <a:stretch>
            <a:fillRect/>
          </a:stretch>
        </p:blipFill>
        <p:spPr>
          <a:xfrm>
            <a:off x="6741459" y="2997766"/>
            <a:ext cx="5158614" cy="3830028"/>
          </a:xfrm>
          <a:prstGeom prst="rect">
            <a:avLst/>
          </a:prstGeom>
        </p:spPr>
      </p:pic>
    </p:spTree>
    <p:extLst>
      <p:ext uri="{BB962C8B-B14F-4D97-AF65-F5344CB8AC3E}">
        <p14:creationId xmlns:p14="http://schemas.microsoft.com/office/powerpoint/2010/main" val="16017651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94097-2DA3-0363-5E60-0994158D725D}"/>
              </a:ext>
            </a:extLst>
          </p:cNvPr>
          <p:cNvSpPr>
            <a:spLocks noGrp="1"/>
          </p:cNvSpPr>
          <p:nvPr>
            <p:ph type="title"/>
          </p:nvPr>
        </p:nvSpPr>
        <p:spPr/>
        <p:txBody>
          <a:bodyPr/>
          <a:lstStyle/>
          <a:p>
            <a:r>
              <a:rPr lang="en-AU" dirty="0"/>
              <a:t>Seaborn</a:t>
            </a:r>
          </a:p>
        </p:txBody>
      </p:sp>
      <p:sp>
        <p:nvSpPr>
          <p:cNvPr id="3" name="Content Placeholder 2">
            <a:extLst>
              <a:ext uri="{FF2B5EF4-FFF2-40B4-BE49-F238E27FC236}">
                <a16:creationId xmlns:a16="http://schemas.microsoft.com/office/drawing/2014/main" id="{B5285ED1-0226-6BB5-1779-5E46D40410BA}"/>
              </a:ext>
            </a:extLst>
          </p:cNvPr>
          <p:cNvSpPr>
            <a:spLocks noGrp="1"/>
          </p:cNvSpPr>
          <p:nvPr>
            <p:ph idx="1"/>
          </p:nvPr>
        </p:nvSpPr>
        <p:spPr/>
        <p:txBody>
          <a:bodyPr/>
          <a:lstStyle/>
          <a:p>
            <a:r>
              <a:rPr lang="en-AU" dirty="0"/>
              <a:t>A higher level library based on matplotlib</a:t>
            </a:r>
          </a:p>
          <a:p>
            <a:r>
              <a:rPr lang="en-AU" dirty="0"/>
              <a:t>Looks prettier than </a:t>
            </a:r>
            <a:r>
              <a:rPr lang="en-AU" dirty="0" err="1"/>
              <a:t>MatPlotLib</a:t>
            </a:r>
            <a:endParaRPr lang="en-AU" dirty="0"/>
          </a:p>
          <a:p>
            <a:r>
              <a:rPr lang="en-AU" dirty="0"/>
              <a:t>Is easier than Matplotlib</a:t>
            </a:r>
          </a:p>
          <a:p>
            <a:r>
              <a:rPr lang="en-AU" dirty="0"/>
              <a:t>Gives you less control</a:t>
            </a:r>
          </a:p>
        </p:txBody>
      </p:sp>
    </p:spTree>
    <p:extLst>
      <p:ext uri="{BB962C8B-B14F-4D97-AF65-F5344CB8AC3E}">
        <p14:creationId xmlns:p14="http://schemas.microsoft.com/office/powerpoint/2010/main" val="25798911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8B61-AE4D-EED8-F956-7F0B9596FEE6}"/>
              </a:ext>
            </a:extLst>
          </p:cNvPr>
          <p:cNvSpPr>
            <a:spLocks noGrp="1"/>
          </p:cNvSpPr>
          <p:nvPr>
            <p:ph type="title"/>
          </p:nvPr>
        </p:nvSpPr>
        <p:spPr/>
        <p:txBody>
          <a:bodyPr/>
          <a:lstStyle/>
          <a:p>
            <a:r>
              <a:rPr lang="en-AU" dirty="0"/>
              <a:t>Generating random data in </a:t>
            </a:r>
            <a:r>
              <a:rPr lang="en-AU" dirty="0" err="1"/>
              <a:t>numpy</a:t>
            </a:r>
            <a:endParaRPr lang="en-AU" dirty="0"/>
          </a:p>
        </p:txBody>
      </p:sp>
      <p:sp>
        <p:nvSpPr>
          <p:cNvPr id="3" name="Content Placeholder 2">
            <a:extLst>
              <a:ext uri="{FF2B5EF4-FFF2-40B4-BE49-F238E27FC236}">
                <a16:creationId xmlns:a16="http://schemas.microsoft.com/office/drawing/2014/main" id="{073A4E7C-6FB1-49E1-B660-31322A84FE37}"/>
              </a:ext>
            </a:extLst>
          </p:cNvPr>
          <p:cNvSpPr>
            <a:spLocks noGrp="1"/>
          </p:cNvSpPr>
          <p:nvPr>
            <p:ph idx="1"/>
          </p:nvPr>
        </p:nvSpPr>
        <p:spPr/>
        <p:txBody>
          <a:bodyPr/>
          <a:lstStyle/>
          <a:p>
            <a:r>
              <a:rPr lang="en-AU" dirty="0"/>
              <a:t>For plotting we may want to use random data points for testing purposes</a:t>
            </a:r>
          </a:p>
          <a:p>
            <a:r>
              <a:rPr lang="en-AU" dirty="0"/>
              <a:t>We can do this with </a:t>
            </a:r>
            <a:r>
              <a:rPr lang="en-AU" dirty="0" err="1"/>
              <a:t>np.random.randint</a:t>
            </a:r>
            <a:endParaRPr lang="en-AU" dirty="0"/>
          </a:p>
        </p:txBody>
      </p:sp>
      <p:pic>
        <p:nvPicPr>
          <p:cNvPr id="5" name="Picture 4">
            <a:extLst>
              <a:ext uri="{FF2B5EF4-FFF2-40B4-BE49-F238E27FC236}">
                <a16:creationId xmlns:a16="http://schemas.microsoft.com/office/drawing/2014/main" id="{05C185D8-22C9-FE7D-2A5A-6FDE188EFDEC}"/>
              </a:ext>
            </a:extLst>
          </p:cNvPr>
          <p:cNvPicPr>
            <a:picLocks noChangeAspect="1"/>
          </p:cNvPicPr>
          <p:nvPr/>
        </p:nvPicPr>
        <p:blipFill>
          <a:blip r:embed="rId2"/>
          <a:stretch>
            <a:fillRect/>
          </a:stretch>
        </p:blipFill>
        <p:spPr>
          <a:xfrm>
            <a:off x="2312936" y="3302668"/>
            <a:ext cx="7059664" cy="5792823"/>
          </a:xfrm>
          <a:prstGeom prst="rect">
            <a:avLst/>
          </a:prstGeom>
        </p:spPr>
      </p:pic>
    </p:spTree>
    <p:extLst>
      <p:ext uri="{BB962C8B-B14F-4D97-AF65-F5344CB8AC3E}">
        <p14:creationId xmlns:p14="http://schemas.microsoft.com/office/powerpoint/2010/main" val="33083926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B1C1F-CF1F-8B09-89C3-101D2C3AF977}"/>
              </a:ext>
            </a:extLst>
          </p:cNvPr>
          <p:cNvSpPr>
            <a:spLocks noGrp="1"/>
          </p:cNvSpPr>
          <p:nvPr>
            <p:ph type="title"/>
          </p:nvPr>
        </p:nvSpPr>
        <p:spPr/>
        <p:txBody>
          <a:bodyPr/>
          <a:lstStyle/>
          <a:p>
            <a:r>
              <a:rPr lang="en-AU" dirty="0"/>
              <a:t>Task 11</a:t>
            </a:r>
          </a:p>
        </p:txBody>
      </p:sp>
      <p:sp>
        <p:nvSpPr>
          <p:cNvPr id="3" name="Content Placeholder 2">
            <a:extLst>
              <a:ext uri="{FF2B5EF4-FFF2-40B4-BE49-F238E27FC236}">
                <a16:creationId xmlns:a16="http://schemas.microsoft.com/office/drawing/2014/main" id="{5C0A202B-228C-503D-108A-5111EB8E1C96}"/>
              </a:ext>
            </a:extLst>
          </p:cNvPr>
          <p:cNvSpPr>
            <a:spLocks noGrp="1"/>
          </p:cNvSpPr>
          <p:nvPr>
            <p:ph idx="1"/>
          </p:nvPr>
        </p:nvSpPr>
        <p:spPr/>
        <p:txBody>
          <a:bodyPr/>
          <a:lstStyle/>
          <a:p>
            <a:r>
              <a:rPr lang="en-AU" dirty="0"/>
              <a:t>Create two variables x and y</a:t>
            </a:r>
          </a:p>
          <a:p>
            <a:r>
              <a:rPr lang="en-AU" dirty="0"/>
              <a:t>each should be random numbers between two integers</a:t>
            </a:r>
          </a:p>
          <a:p>
            <a:r>
              <a:rPr lang="en-AU" dirty="0"/>
              <a:t>They should have the same length</a:t>
            </a:r>
          </a:p>
        </p:txBody>
      </p:sp>
    </p:spTree>
    <p:extLst>
      <p:ext uri="{BB962C8B-B14F-4D97-AF65-F5344CB8AC3E}">
        <p14:creationId xmlns:p14="http://schemas.microsoft.com/office/powerpoint/2010/main" val="664744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E16E6-EE74-DBC2-59C3-FF2F9B7E9FF1}"/>
              </a:ext>
            </a:extLst>
          </p:cNvPr>
          <p:cNvSpPr>
            <a:spLocks noGrp="1"/>
          </p:cNvSpPr>
          <p:nvPr>
            <p:ph type="title"/>
          </p:nvPr>
        </p:nvSpPr>
        <p:spPr/>
        <p:txBody>
          <a:bodyPr/>
          <a:lstStyle/>
          <a:p>
            <a:r>
              <a:rPr lang="en-AU" dirty="0"/>
              <a:t>Using Matplotlib</a:t>
            </a:r>
          </a:p>
        </p:txBody>
      </p:sp>
      <p:sp>
        <p:nvSpPr>
          <p:cNvPr id="3" name="Content Placeholder 2">
            <a:extLst>
              <a:ext uri="{FF2B5EF4-FFF2-40B4-BE49-F238E27FC236}">
                <a16:creationId xmlns:a16="http://schemas.microsoft.com/office/drawing/2014/main" id="{731E1EBD-03AC-5DD6-5E9C-4EE78DF77E44}"/>
              </a:ext>
            </a:extLst>
          </p:cNvPr>
          <p:cNvSpPr>
            <a:spLocks noGrp="1"/>
          </p:cNvSpPr>
          <p:nvPr>
            <p:ph idx="1"/>
          </p:nvPr>
        </p:nvSpPr>
        <p:spPr>
          <a:xfrm>
            <a:off x="838200" y="1825625"/>
            <a:ext cx="4061059" cy="4351338"/>
          </a:xfrm>
        </p:spPr>
        <p:txBody>
          <a:bodyPr/>
          <a:lstStyle/>
          <a:p>
            <a:r>
              <a:rPr lang="en-AU" dirty="0"/>
              <a:t>We create a figure</a:t>
            </a:r>
          </a:p>
          <a:p>
            <a:r>
              <a:rPr lang="en-AU" dirty="0"/>
              <a:t>We specify the type of plot. (in this case scatter)</a:t>
            </a:r>
          </a:p>
          <a:p>
            <a:r>
              <a:rPr lang="en-AU" dirty="0"/>
              <a:t>We insert the data</a:t>
            </a:r>
          </a:p>
          <a:p>
            <a:r>
              <a:rPr lang="en-AU" dirty="0"/>
              <a:t>We show the plot</a:t>
            </a:r>
          </a:p>
        </p:txBody>
      </p:sp>
      <p:pic>
        <p:nvPicPr>
          <p:cNvPr id="5" name="Picture 4">
            <a:extLst>
              <a:ext uri="{FF2B5EF4-FFF2-40B4-BE49-F238E27FC236}">
                <a16:creationId xmlns:a16="http://schemas.microsoft.com/office/drawing/2014/main" id="{2011B475-AEC2-9B4F-5C58-C1C3FDADB9AF}"/>
              </a:ext>
            </a:extLst>
          </p:cNvPr>
          <p:cNvPicPr>
            <a:picLocks noChangeAspect="1"/>
          </p:cNvPicPr>
          <p:nvPr/>
        </p:nvPicPr>
        <p:blipFill>
          <a:blip r:embed="rId2"/>
          <a:stretch>
            <a:fillRect/>
          </a:stretch>
        </p:blipFill>
        <p:spPr>
          <a:xfrm>
            <a:off x="5099921" y="365125"/>
            <a:ext cx="7092080" cy="6492875"/>
          </a:xfrm>
          <a:prstGeom prst="rect">
            <a:avLst/>
          </a:prstGeom>
        </p:spPr>
      </p:pic>
    </p:spTree>
    <p:extLst>
      <p:ext uri="{BB962C8B-B14F-4D97-AF65-F5344CB8AC3E}">
        <p14:creationId xmlns:p14="http://schemas.microsoft.com/office/powerpoint/2010/main" val="18175026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B8A50-CFBB-592C-F4D0-481ABAAFD4C0}"/>
              </a:ext>
            </a:extLst>
          </p:cNvPr>
          <p:cNvSpPr>
            <a:spLocks noGrp="1"/>
          </p:cNvSpPr>
          <p:nvPr>
            <p:ph type="title"/>
          </p:nvPr>
        </p:nvSpPr>
        <p:spPr/>
        <p:txBody>
          <a:bodyPr/>
          <a:lstStyle/>
          <a:p>
            <a:r>
              <a:rPr lang="en-AU" dirty="0"/>
              <a:t>Try to plot your random data in matplotlib</a:t>
            </a:r>
          </a:p>
        </p:txBody>
      </p:sp>
      <p:sp>
        <p:nvSpPr>
          <p:cNvPr id="3" name="Content Placeholder 2">
            <a:extLst>
              <a:ext uri="{FF2B5EF4-FFF2-40B4-BE49-F238E27FC236}">
                <a16:creationId xmlns:a16="http://schemas.microsoft.com/office/drawing/2014/main" id="{5171E264-552B-022A-C55C-F6E36B77FBC1}"/>
              </a:ext>
            </a:extLst>
          </p:cNvPr>
          <p:cNvSpPr>
            <a:spLocks noGrp="1"/>
          </p:cNvSpPr>
          <p:nvPr>
            <p:ph idx="1"/>
          </p:nvPr>
        </p:nvSpPr>
        <p:spPr/>
        <p:txBody>
          <a:bodyPr/>
          <a:lstStyle/>
          <a:p>
            <a:r>
              <a:rPr lang="en-AU" dirty="0"/>
              <a:t>Try scatter, and plot</a:t>
            </a:r>
          </a:p>
        </p:txBody>
      </p:sp>
      <p:pic>
        <p:nvPicPr>
          <p:cNvPr id="5" name="Picture 4">
            <a:extLst>
              <a:ext uri="{FF2B5EF4-FFF2-40B4-BE49-F238E27FC236}">
                <a16:creationId xmlns:a16="http://schemas.microsoft.com/office/drawing/2014/main" id="{27B22336-7B02-53F5-268E-ABA5AF4BFE45}"/>
              </a:ext>
            </a:extLst>
          </p:cNvPr>
          <p:cNvPicPr>
            <a:picLocks noChangeAspect="1"/>
          </p:cNvPicPr>
          <p:nvPr/>
        </p:nvPicPr>
        <p:blipFill>
          <a:blip r:embed="rId2"/>
          <a:stretch>
            <a:fillRect/>
          </a:stretch>
        </p:blipFill>
        <p:spPr>
          <a:xfrm>
            <a:off x="6160168" y="1335793"/>
            <a:ext cx="6031832" cy="5522207"/>
          </a:xfrm>
          <a:prstGeom prst="rect">
            <a:avLst/>
          </a:prstGeom>
        </p:spPr>
      </p:pic>
    </p:spTree>
    <p:extLst>
      <p:ext uri="{BB962C8B-B14F-4D97-AF65-F5344CB8AC3E}">
        <p14:creationId xmlns:p14="http://schemas.microsoft.com/office/powerpoint/2010/main" val="34845850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FF34-E933-F040-5459-0F728B409AA1}"/>
              </a:ext>
            </a:extLst>
          </p:cNvPr>
          <p:cNvSpPr>
            <a:spLocks noGrp="1"/>
          </p:cNvSpPr>
          <p:nvPr>
            <p:ph type="title"/>
          </p:nvPr>
        </p:nvSpPr>
        <p:spPr/>
        <p:txBody>
          <a:bodyPr/>
          <a:lstStyle/>
          <a:p>
            <a:r>
              <a:rPr lang="en-AU" dirty="0"/>
              <a:t>Plotting our climate data</a:t>
            </a:r>
          </a:p>
        </p:txBody>
      </p:sp>
      <p:sp>
        <p:nvSpPr>
          <p:cNvPr id="3" name="Content Placeholder 2">
            <a:extLst>
              <a:ext uri="{FF2B5EF4-FFF2-40B4-BE49-F238E27FC236}">
                <a16:creationId xmlns:a16="http://schemas.microsoft.com/office/drawing/2014/main" id="{DCA5178D-D819-A680-3D0A-F51B7C8F3022}"/>
              </a:ext>
            </a:extLst>
          </p:cNvPr>
          <p:cNvSpPr>
            <a:spLocks noGrp="1"/>
          </p:cNvSpPr>
          <p:nvPr>
            <p:ph idx="1"/>
          </p:nvPr>
        </p:nvSpPr>
        <p:spPr/>
        <p:txBody>
          <a:bodyPr/>
          <a:lstStyle/>
          <a:p>
            <a:endParaRPr lang="en-AU" dirty="0"/>
          </a:p>
        </p:txBody>
      </p:sp>
      <p:pic>
        <p:nvPicPr>
          <p:cNvPr id="5" name="Picture 4">
            <a:extLst>
              <a:ext uri="{FF2B5EF4-FFF2-40B4-BE49-F238E27FC236}">
                <a16:creationId xmlns:a16="http://schemas.microsoft.com/office/drawing/2014/main" id="{AEED110F-13A3-312F-8DE8-4525C4E010A1}"/>
              </a:ext>
            </a:extLst>
          </p:cNvPr>
          <p:cNvPicPr>
            <a:picLocks noChangeAspect="1"/>
          </p:cNvPicPr>
          <p:nvPr/>
        </p:nvPicPr>
        <p:blipFill>
          <a:blip r:embed="rId2"/>
          <a:stretch>
            <a:fillRect/>
          </a:stretch>
        </p:blipFill>
        <p:spPr>
          <a:xfrm>
            <a:off x="510941" y="1496076"/>
            <a:ext cx="7360028" cy="1587582"/>
          </a:xfrm>
          <a:prstGeom prst="rect">
            <a:avLst/>
          </a:prstGeom>
        </p:spPr>
      </p:pic>
      <p:pic>
        <p:nvPicPr>
          <p:cNvPr id="7" name="Picture 6">
            <a:extLst>
              <a:ext uri="{FF2B5EF4-FFF2-40B4-BE49-F238E27FC236}">
                <a16:creationId xmlns:a16="http://schemas.microsoft.com/office/drawing/2014/main" id="{5C2B9552-3FD6-1B26-DCDF-61CBE564C14F}"/>
              </a:ext>
            </a:extLst>
          </p:cNvPr>
          <p:cNvPicPr>
            <a:picLocks noChangeAspect="1"/>
          </p:cNvPicPr>
          <p:nvPr/>
        </p:nvPicPr>
        <p:blipFill>
          <a:blip r:embed="rId3"/>
          <a:stretch>
            <a:fillRect/>
          </a:stretch>
        </p:blipFill>
        <p:spPr>
          <a:xfrm>
            <a:off x="510941" y="3014174"/>
            <a:ext cx="5188217" cy="3968954"/>
          </a:xfrm>
          <a:prstGeom prst="rect">
            <a:avLst/>
          </a:prstGeom>
        </p:spPr>
      </p:pic>
    </p:spTree>
    <p:extLst>
      <p:ext uri="{BB962C8B-B14F-4D97-AF65-F5344CB8AC3E}">
        <p14:creationId xmlns:p14="http://schemas.microsoft.com/office/powerpoint/2010/main" val="10122081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42A72-37C4-01D0-CC37-A9ED1B9EBA92}"/>
              </a:ext>
            </a:extLst>
          </p:cNvPr>
          <p:cNvSpPr>
            <a:spLocks noGrp="1"/>
          </p:cNvSpPr>
          <p:nvPr>
            <p:ph type="title"/>
          </p:nvPr>
        </p:nvSpPr>
        <p:spPr/>
        <p:txBody>
          <a:bodyPr/>
          <a:lstStyle/>
          <a:p>
            <a:r>
              <a:rPr lang="en-AU" dirty="0"/>
              <a:t>Task 12</a:t>
            </a:r>
          </a:p>
        </p:txBody>
      </p:sp>
      <p:sp>
        <p:nvSpPr>
          <p:cNvPr id="3" name="Content Placeholder 2">
            <a:extLst>
              <a:ext uri="{FF2B5EF4-FFF2-40B4-BE49-F238E27FC236}">
                <a16:creationId xmlns:a16="http://schemas.microsoft.com/office/drawing/2014/main" id="{60B5D0FB-A122-8247-6C90-50BCD42DC191}"/>
              </a:ext>
            </a:extLst>
          </p:cNvPr>
          <p:cNvSpPr>
            <a:spLocks noGrp="1"/>
          </p:cNvSpPr>
          <p:nvPr>
            <p:ph idx="1"/>
          </p:nvPr>
        </p:nvSpPr>
        <p:spPr/>
        <p:txBody>
          <a:bodyPr/>
          <a:lstStyle/>
          <a:p>
            <a:r>
              <a:rPr lang="en-AU" dirty="0"/>
              <a:t>Plot the climate data</a:t>
            </a:r>
          </a:p>
          <a:p>
            <a:r>
              <a:rPr lang="en-AU" dirty="0"/>
              <a:t>After you have made the plot cluster by ‘Month’ instead of ‘Year’</a:t>
            </a:r>
          </a:p>
        </p:txBody>
      </p:sp>
    </p:spTree>
    <p:extLst>
      <p:ext uri="{BB962C8B-B14F-4D97-AF65-F5344CB8AC3E}">
        <p14:creationId xmlns:p14="http://schemas.microsoft.com/office/powerpoint/2010/main" val="26544891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BE3C-2D0F-BEFB-6B11-566CF196E0E4}"/>
              </a:ext>
            </a:extLst>
          </p:cNvPr>
          <p:cNvSpPr>
            <a:spLocks noGrp="1"/>
          </p:cNvSpPr>
          <p:nvPr>
            <p:ph type="title"/>
          </p:nvPr>
        </p:nvSpPr>
        <p:spPr/>
        <p:txBody>
          <a:bodyPr/>
          <a:lstStyle/>
          <a:p>
            <a:r>
              <a:rPr lang="en-AU" dirty="0"/>
              <a:t>I tried to plot the data </a:t>
            </a:r>
            <a:r>
              <a:rPr lang="en-AU" dirty="0">
                <a:sym typeface="Wingdings" panose="05000000000000000000" pitchFamily="2" charset="2"/>
              </a:rPr>
              <a:t></a:t>
            </a:r>
            <a:endParaRPr lang="en-AU" dirty="0"/>
          </a:p>
        </p:txBody>
      </p:sp>
      <p:pic>
        <p:nvPicPr>
          <p:cNvPr id="9" name="Picture 8" descr="A graph of colored lines&#10;&#10;Description automatically generated">
            <a:extLst>
              <a:ext uri="{FF2B5EF4-FFF2-40B4-BE49-F238E27FC236}">
                <a16:creationId xmlns:a16="http://schemas.microsoft.com/office/drawing/2014/main" id="{C740199B-8CC5-B29E-9F8C-65C4AC89F9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9729" y="1353301"/>
            <a:ext cx="8403353" cy="5504699"/>
          </a:xfrm>
          <a:prstGeom prst="rect">
            <a:avLst/>
          </a:prstGeom>
        </p:spPr>
      </p:pic>
    </p:spTree>
    <p:extLst>
      <p:ext uri="{BB962C8B-B14F-4D97-AF65-F5344CB8AC3E}">
        <p14:creationId xmlns:p14="http://schemas.microsoft.com/office/powerpoint/2010/main" val="13481266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BE3C-2D0F-BEFB-6B11-566CF196E0E4}"/>
              </a:ext>
            </a:extLst>
          </p:cNvPr>
          <p:cNvSpPr>
            <a:spLocks noGrp="1"/>
          </p:cNvSpPr>
          <p:nvPr>
            <p:ph type="title"/>
          </p:nvPr>
        </p:nvSpPr>
        <p:spPr>
          <a:xfrm>
            <a:off x="723900" y="212725"/>
            <a:ext cx="10515600" cy="1325563"/>
          </a:xfrm>
        </p:spPr>
        <p:txBody>
          <a:bodyPr/>
          <a:lstStyle/>
          <a:p>
            <a:r>
              <a:rPr lang="en-AU" dirty="0"/>
              <a:t>Then by decade average </a:t>
            </a:r>
            <a:r>
              <a:rPr lang="en-AU" dirty="0">
                <a:sym typeface="Wingdings" panose="05000000000000000000" pitchFamily="2" charset="2"/>
              </a:rPr>
              <a:t></a:t>
            </a:r>
            <a:endParaRPr lang="en-AU" dirty="0"/>
          </a:p>
        </p:txBody>
      </p:sp>
      <p:pic>
        <p:nvPicPr>
          <p:cNvPr id="11" name="Picture 10" descr="A graph of a graph&#10;&#10;Description automatically generated with medium confidence">
            <a:extLst>
              <a:ext uri="{FF2B5EF4-FFF2-40B4-BE49-F238E27FC236}">
                <a16:creationId xmlns:a16="http://schemas.microsoft.com/office/drawing/2014/main" id="{109820C9-E679-F9C6-2916-1B5256406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3599" y="1239980"/>
            <a:ext cx="8455025" cy="5618019"/>
          </a:xfrm>
          <a:prstGeom prst="rect">
            <a:avLst/>
          </a:prstGeom>
        </p:spPr>
      </p:pic>
    </p:spTree>
    <p:extLst>
      <p:ext uri="{BB962C8B-B14F-4D97-AF65-F5344CB8AC3E}">
        <p14:creationId xmlns:p14="http://schemas.microsoft.com/office/powerpoint/2010/main" val="20592704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795D4-64C0-BF80-067C-10882C4BAD75}"/>
              </a:ext>
            </a:extLst>
          </p:cNvPr>
          <p:cNvSpPr>
            <a:spLocks noGrp="1"/>
          </p:cNvSpPr>
          <p:nvPr>
            <p:ph type="title"/>
          </p:nvPr>
        </p:nvSpPr>
        <p:spPr/>
        <p:txBody>
          <a:bodyPr/>
          <a:lstStyle/>
          <a:p>
            <a:r>
              <a:rPr lang="en-AU" dirty="0"/>
              <a:t>Assignment</a:t>
            </a:r>
          </a:p>
        </p:txBody>
      </p:sp>
      <p:sp>
        <p:nvSpPr>
          <p:cNvPr id="3" name="Content Placeholder 2">
            <a:extLst>
              <a:ext uri="{FF2B5EF4-FFF2-40B4-BE49-F238E27FC236}">
                <a16:creationId xmlns:a16="http://schemas.microsoft.com/office/drawing/2014/main" id="{BAB8F708-EBF3-DD7D-BD6B-653EFE68F12E}"/>
              </a:ext>
            </a:extLst>
          </p:cNvPr>
          <p:cNvSpPr>
            <a:spLocks noGrp="1"/>
          </p:cNvSpPr>
          <p:nvPr>
            <p:ph idx="1"/>
          </p:nvPr>
        </p:nvSpPr>
        <p:spPr/>
        <p:txBody>
          <a:bodyPr/>
          <a:lstStyle/>
          <a:p>
            <a:r>
              <a:rPr lang="en-AU" dirty="0"/>
              <a:t>Find the hottest average year for this dataset</a:t>
            </a:r>
          </a:p>
          <a:p>
            <a:r>
              <a:rPr lang="en-AU" dirty="0"/>
              <a:t>Find the hottest month on record</a:t>
            </a:r>
          </a:p>
          <a:p>
            <a:r>
              <a:rPr lang="en-AU" dirty="0"/>
              <a:t>Find the coldest average year for this dataset</a:t>
            </a:r>
          </a:p>
          <a:p>
            <a:r>
              <a:rPr lang="en-AU" dirty="0"/>
              <a:t>Find the coldest month on recode</a:t>
            </a:r>
          </a:p>
          <a:p>
            <a:r>
              <a:rPr lang="en-AU" dirty="0"/>
              <a:t>Try to make an interesting graph! Prize for the best one </a:t>
            </a:r>
            <a:r>
              <a:rPr lang="en-AU" dirty="0">
                <a:sym typeface="Wingdings" panose="05000000000000000000" pitchFamily="2" charset="2"/>
              </a:rPr>
              <a:t></a:t>
            </a:r>
          </a:p>
          <a:p>
            <a:r>
              <a:rPr lang="en-AU" dirty="0">
                <a:sym typeface="Wingdings" panose="05000000000000000000" pitchFamily="2" charset="2"/>
              </a:rPr>
              <a:t>Email me your results</a:t>
            </a:r>
            <a:endParaRPr lang="en-AU" dirty="0"/>
          </a:p>
          <a:p>
            <a:endParaRPr lang="en-AU" dirty="0"/>
          </a:p>
        </p:txBody>
      </p:sp>
    </p:spTree>
    <p:extLst>
      <p:ext uri="{BB962C8B-B14F-4D97-AF65-F5344CB8AC3E}">
        <p14:creationId xmlns:p14="http://schemas.microsoft.com/office/powerpoint/2010/main" val="3515943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3938</TotalTime>
  <Words>1058</Words>
  <Application>Microsoft Office PowerPoint</Application>
  <PresentationFormat>Widescreen</PresentationFormat>
  <Paragraphs>140</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Wingdings</vt:lpstr>
      <vt:lpstr>Office Theme</vt:lpstr>
      <vt:lpstr>Python club session 4</vt:lpstr>
      <vt:lpstr>Why you shouldn’t use AI to code while you are a beginner</vt:lpstr>
      <vt:lpstr>When it’s ok to use AI as a beginner</vt:lpstr>
      <vt:lpstr>Power operator</vt:lpstr>
      <vt:lpstr>There are a few other operators but now you know the main ones</vt:lpstr>
      <vt:lpstr>Numpy Arrays</vt:lpstr>
      <vt:lpstr>Don’t</vt:lpstr>
      <vt:lpstr>Operations</vt:lpstr>
      <vt:lpstr>Operations</vt:lpstr>
      <vt:lpstr>Task 1</vt:lpstr>
      <vt:lpstr>Operations</vt:lpstr>
      <vt:lpstr>Task 2</vt:lpstr>
      <vt:lpstr>What is Array shape?</vt:lpstr>
      <vt:lpstr>Creating a multidimensional array</vt:lpstr>
      <vt:lpstr>2D array</vt:lpstr>
      <vt:lpstr>2D array</vt:lpstr>
      <vt:lpstr>When creating an array all lists must be the same shape</vt:lpstr>
      <vt:lpstr>Task 3</vt:lpstr>
      <vt:lpstr>Array Indexing</vt:lpstr>
      <vt:lpstr>Array Indexing</vt:lpstr>
      <vt:lpstr>Task 4 </vt:lpstr>
      <vt:lpstr>Range Indexing also works in Arrays</vt:lpstr>
      <vt:lpstr>Array masking </vt:lpstr>
      <vt:lpstr>Task 5</vt:lpstr>
      <vt:lpstr>Pandas DataFrames</vt:lpstr>
      <vt:lpstr>Formatting </vt:lpstr>
      <vt:lpstr>Pandas indexing</vt:lpstr>
      <vt:lpstr>Pandas indexing</vt:lpstr>
      <vt:lpstr>Task 6</vt:lpstr>
      <vt:lpstr>Pandas behaves very similarly to numpy</vt:lpstr>
      <vt:lpstr>You can also mask pandas DataFrames</vt:lpstr>
      <vt:lpstr>You can also mask pandas DataFrames</vt:lpstr>
      <vt:lpstr>Task 7 </vt:lpstr>
      <vt:lpstr>Reading a CSV file with pandas</vt:lpstr>
      <vt:lpstr>Reading a CSV file with pandas</vt:lpstr>
      <vt:lpstr>Task 8</vt:lpstr>
      <vt:lpstr>Data Cleaning</vt:lpstr>
      <vt:lpstr>Data Cleaning</vt:lpstr>
      <vt:lpstr>Data Cleaning</vt:lpstr>
      <vt:lpstr>We can use masking to clean our dataset</vt:lpstr>
      <vt:lpstr>Task 9</vt:lpstr>
      <vt:lpstr>Groupby in pandas allows you to cluster your data based on a chosen column</vt:lpstr>
      <vt:lpstr>In the returned clustered DataFrame the value you chose to cluster on is the index</vt:lpstr>
      <vt:lpstr>Task 10</vt:lpstr>
      <vt:lpstr>Plotting with matplotlib and seaborn</vt:lpstr>
      <vt:lpstr>Matplotlib is the most popular plotting library in python</vt:lpstr>
      <vt:lpstr>Seaborn</vt:lpstr>
      <vt:lpstr>Generating random data in numpy</vt:lpstr>
      <vt:lpstr>Task 11</vt:lpstr>
      <vt:lpstr>Using Matplotlib</vt:lpstr>
      <vt:lpstr>Try to plot your random data in matplotlib</vt:lpstr>
      <vt:lpstr>Plotting our climate data</vt:lpstr>
      <vt:lpstr>Task 12</vt:lpstr>
      <vt:lpstr>I tried to plot the data </vt:lpstr>
      <vt:lpstr>Then by decade average </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club session 4</dc:title>
  <dc:creator>Harry Alexander Chandler Carey</dc:creator>
  <cp:lastModifiedBy>Harry Alexander Chandler Carey</cp:lastModifiedBy>
  <cp:revision>2</cp:revision>
  <dcterms:created xsi:type="dcterms:W3CDTF">2024-12-15T07:01:29Z</dcterms:created>
  <dcterms:modified xsi:type="dcterms:W3CDTF">2024-12-18T00:39:46Z</dcterms:modified>
</cp:coreProperties>
</file>